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teacher and panel.</a:t>
            </a:r>
          </a:p>
          <a:p/>
          <a:p>
            <a:r>
              <a:t>We are Team PotatoDoc — Aswin Panta, Shadbhav Regmi and Salina Kunwar — presenting our final year project for BIT.</a:t>
            </a:r>
          </a:p>
          <a:p/>
          <a:p>
            <a:r>
              <a:t>PotatoDoc is a phone application that helps farmers identify disease on a potato leaf using only a photograph. It tells the farmer what disease it thinks the leaf has, and it draws a coloured heatmap over the leaf so the farmer can see which part of the leaf made the system decide that.</a:t>
            </a:r>
          </a:p>
          <a:p/>
          <a:p>
            <a:r>
              <a:t>One important point we want to state at the very beginning: the system is built to say "Unknown" rather than give a wrong answer. If the photo is not a potato leaf, or if the system is not confident, it refuses to guess. We believe this honesty is more useful to a farmer than a confident wrong answer.</a:t>
            </a:r>
          </a:p>
          <a:p/>
          <a:p>
            <a:r>
              <a:t>We will take about twelve to fifteen minutes. We will first explain the problem, then the system design, then the machine learning results — including a weakness we found and are reporting openly — and finally the application and our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start with the problem.</a:t>
            </a:r>
          </a:p>
          <a:p/>
          <a:p>
            <a:r>
              <a:t>Potato is one of the most important food crops for Nepali farmers. Two diseases, Early Blight and Late Blight, spread very quickly. In a bad season they can take out a whole field in a matter of days.</a:t>
            </a:r>
          </a:p>
          <a:p/>
          <a:p>
            <a:r>
              <a:t>The difficulty is that these two diseases look similar to the untrained eye. When a farmer picks the wrong treatment, they spend money on the wrong chemical and still lose the crop. In many villages there is no agricultural expert nearby, and by the time someone visits, the infection has already moved to the next plants.</a:t>
            </a:r>
          </a:p>
          <a:p/>
          <a:p>
            <a:r>
              <a:t>So the four things we wanted to give the farmer are: speed — an answer in seconds; cost — no lab test and no equipment; explainability — a heatmap that shows the reason; and honesty — the system must say "Unknown" rather than guess.</a:t>
            </a:r>
          </a:p>
          <a:p/>
          <a:p>
            <a:r>
              <a:t>Aswin Panta will now walk us through what we actually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five objectives we set for ourselves.</a:t>
            </a:r>
          </a:p>
          <a:p/>
          <a:p>
            <a:r>
              <a:t>First, diagnose from a photo. The system returns one of four answers: Early Blight, Late Blight, Healthy, or Non-Leaf, meaning it is not a leaf at all.</a:t>
            </a:r>
          </a:p>
          <a:p/>
          <a:p>
            <a:r>
              <a:t>Second, explain the decision. This is important for trust. The app draws a Grad-CAM heatmap over the leaf, so the farmer is not just told an answer — they can see the spot on the leaf that caused it.</a:t>
            </a:r>
          </a:p>
          <a:p/>
          <a:p>
            <a:r>
              <a:t>Third, refuse to guess. We built a three-layer safety check. If the photo has no green content, if the model thinks it is not a leaf, or if the model is simply unsure, the app answers "Unknown". This is the design decision we are most proud of.</a:t>
            </a:r>
          </a:p>
          <a:p/>
          <a:p>
            <a:r>
              <a:t>Fourth, run in the field. This is a real Android application with scan history, a disease reference, news, location advisories and a support chat.</a:t>
            </a:r>
          </a:p>
          <a:p/>
          <a:p>
            <a:r>
              <a:t>Fifth, stay accountable. The superadmin console lets us monitor real usage — how many farmers, how many diagnoses, which model was used, and any support tickets.</a:t>
            </a:r>
          </a:p>
          <a:p/>
          <a:p>
            <a:r>
              <a:t>The next two slides show how the whole system fits together.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system flow, read from left to right.</a:t>
            </a:r>
          </a:p>
          <a:p/>
          <a:p>
            <a:r>
              <a:t>The farmer opens the React Native Android app and takes a photo. The photo is sent over HTTPS to a Cloudflare named tunnel. Using a tunnel means the server has no open port — nothing is exposed directly to the internet, which is much safer than opening a firewall port.</a:t>
            </a:r>
          </a:p>
          <a:p/>
          <a:p>
            <a:r>
              <a:t>The tunnel delivers the request to our FastAPI backend. The backend first checks the user's JWT token, then passes the photo into the inference pipeline.</a:t>
            </a:r>
          </a:p>
          <a:p/>
          <a:p>
            <a:r>
              <a:t>Inside the pipeline, the photo goes through three safety gates in order: a green-pixel check, a trained Non-Leaf classifier, and an entropy rule that measures uncertainty. If any gate rejects, the answer is "Unknown". If all three pass, the photo goes to a soft-vote ensemble of three neural networks. The ensemble averages their probability outputs and also produces a Grad-CAM heatmap.</a:t>
            </a:r>
          </a:p>
          <a:p/>
          <a:p>
            <a:r>
              <a:t>The result comes back as JSON — the label, the confidence, which model was used, and the heatmap image — and the phone displays it.</a:t>
            </a:r>
          </a:p>
          <a:p/>
          <a:p>
            <a:r>
              <a:t>On the bottom path you can see the second client: the superadmin console in a browser. It uses the same backend with a superadmin token and reads and writes users, notices and tickets.</a:t>
            </a:r>
          </a:p>
          <a:p/>
          <a:p>
            <a:r>
              <a:t>I will now hand over to Shadbhav Regmi, who will explain how the backend code itself is organised.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structure of our backend code, drawn as a UML-style class diagram.</a:t>
            </a:r>
          </a:p>
          <a:p/>
          <a:p>
            <a:r>
              <a:t>The green box in the centre is InferenceService in app.py. It owns the loaded models, caches them so they are only loaded once, and exposes the functions that matter: loading a model, computing probabilities, generating the Grad-CAM overlay, measuring the green ratio for gate one, and measuring entropy for gate three.</a:t>
            </a:r>
          </a:p>
          <a:p/>
          <a:p>
            <a:r>
              <a:t>The dark green box on the left is the User class. It holds the farmer's contact, name, role and password hash. Note that we never store a plain password — we hash it with PBKDF2. The two functions marked "guard", require_user and require_superadmin, protect every protected route.</a:t>
            </a:r>
          </a:p>
          <a:p/>
          <a:p>
            <a:r>
              <a:t>Diagnosis in history.py records every prediction with its confidence and which model produced it. Notice is the farmer-facing news feed, and Ticket with TicketMessage is the two-way support chat. MediaStore in media.py saves uploaded images using content addressing and includes a safe_join function specifically to prevent path traversal attacks — a common security hole.</a:t>
            </a:r>
          </a:p>
          <a:p/>
          <a:p>
            <a:r>
              <a:t>The three dashed boxes at the bottom are supporting modules: location advisories, the admin router layer, and the SQLite schema in db.py.</a:t>
            </a:r>
          </a:p>
          <a:p/>
          <a:p>
            <a:r>
              <a:t>The key architectural decision here is that we use plain SQLite with no ORM. It keeps the code small and easy to understand, which matters for a student project that someone else has to read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explain the most important design decision in the project: the three safety gates.</a:t>
            </a:r>
          </a:p>
          <a:p/>
          <a:p>
            <a:r>
              <a:t>Gate one is the green-pixel check. It is very cheap — we simply measure how much of the image is green. If there is almost no green, it cannot be a leaf, so we reject immediately. This filters out walls, floors, paperwork and photographs of people before we spend any compute on the neural networks.</a:t>
            </a:r>
          </a:p>
          <a:p/>
          <a:p>
            <a:r>
              <a:t>Gate two is a trained Non-Leaf class. We did not just write a rule — we trained the network on a fourth class called Non-Leaf, so it has actually learned what a non-leaf looks like: people, dogs, buildings, soil, sky.</a:t>
            </a:r>
          </a:p>
          <a:p/>
          <a:p>
            <a:r>
              <a:t>Gate three is the entropy rule. Entropy measures how spread out the model's probabilities are. If the four probabilities are all close to each other, the model is guessing. In that case we return "Unknown" rather than taking the highest of four uncertain numbers and presenting it as fact.</a:t>
            </a:r>
          </a:p>
          <a:p/>
          <a:p>
            <a:r>
              <a:t>Only when all three gates pass do we let the ensemble answer. And when any gate fails, the farmer sees "Unknown" — never a wrong disease name.</a:t>
            </a:r>
          </a:p>
          <a:p/>
          <a:p>
            <a:r>
              <a:t>Shadbhav Regmi will now introduce the three neural networks behind that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three neural networks, and we deliberately chose three different kinds.</a:t>
            </a:r>
          </a:p>
          <a:p/>
          <a:p>
            <a:r>
              <a:t>Small CNN is a network we built and trained from scratch. It is small and fast, and it gives us a baseline: if a simple network can do this well, we know the problem is learnable.</a:t>
            </a:r>
          </a:p>
          <a:p/>
          <a:p>
            <a:r>
              <a:t>MobileNetV2 is a network designed for phones. It was pretrained on ImageNet — millions of everyday images — and then we fine-tuned it on our potato leaf data. This is called transfer learning: we reuse knowledge the network already has.</a:t>
            </a:r>
          </a:p>
          <a:p/>
          <a:p>
            <a:r>
              <a:t>EfficientNet-B0 is a more carefully balanced architecture between accuracy and size. In our harder cross-source test it was actually the strongest single model.</a:t>
            </a:r>
          </a:p>
          <a:p/>
          <a:p>
            <a:r>
              <a:t>Rather than trusting one network, we use a soft-vote ensemble. We average the probability outputs of all three networks and take the majority view. This reduces the chance that one model's mistake becomes the final answer. The ensemble is what the app serves by default.</a:t>
            </a:r>
          </a:p>
          <a:p/>
          <a:p>
            <a:r>
              <a:t>Finally, Grad-CAM. We take the gradients from the last convolutional layer and turn them into a heatmap that is drawn over the leaf. That is what lets the farmer see the reasoning, not just the result.</a:t>
            </a:r>
          </a:p>
          <a:p/>
          <a:p>
            <a:r>
              <a:t>The numbers on these cards are from our standard held-out test. Shadbhav Regmi will now show what happened when we tested on a much harder, completely separate dataset.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honest slide in our presentation.</a:t>
            </a:r>
          </a:p>
          <a:p/>
          <a:p>
            <a:r>
              <a:t>On the left you see our standard held-out test: the same kind of images our training data came from. There, our models score 96 to 99.9 percent. That number is real, but on its own it is not very meaningful, because the test photos look like the training photos.</a:t>
            </a:r>
          </a:p>
          <a:p/>
          <a:p>
            <a:r>
              <a:t>On the right we tested on PlantDoc — a completely separate dataset, taken by different people, with different cameras, in different fields and lighting. The models had never seen a single one of these images.</a:t>
            </a:r>
          </a:p>
          <a:p/>
          <a:p>
            <a:r>
              <a:t>Accuracy drops to 46.5 percent overall.</a:t>
            </a:r>
          </a:p>
          <a:p/>
          <a:p>
            <a:r>
              <a:t>We want to be very clear about this. We are showing you the weaker number on purpose. Any project can report a flattering number from a test set that resembles its training set. The interesting and useful finding is the gap itself: a model that looks perfect in the lab can fall apart the moment the photo comes from a different source.</a:t>
            </a:r>
          </a:p>
          <a:p/>
          <a:p>
            <a:r>
              <a:t>Notice also that EfficientNet-B0, at 50.9 percent, beats the ensemble at 46.5 percent on this harder test. That tells us our default model choice should change.</a:t>
            </a:r>
          </a:p>
          <a:p/>
          <a:p>
            <a:r>
              <a:t>Shadbhav Regmi will now break down exactly where the failures happen.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shows recall — of all the images that really were a certain disease, how many we got right.</a:t>
            </a:r>
          </a:p>
          <a:p/>
          <a:p>
            <a:r>
              <a:t>Late Blight is learned reasonably well at 75 percent. Early Blight is only 37.5 percent, and Non-Leaf is 23.5 percent.</a:t>
            </a:r>
          </a:p>
          <a:p/>
          <a:p>
            <a:r>
              <a:t>Looking at the confusion table explains why. Out of 40 genuine Early Blight images, the model called 25 of them Late Blight. Both diseases produce dark rings on the leaf, and the model has learned the Late Blight pattern more strongly, so when it sees rings it defaults to Late Blight.</a:t>
            </a:r>
          </a:p>
          <a:p/>
          <a:p>
            <a:r>
              <a:t>On the right we list what we would do about it. The most important point is the first one: we need more real Early Blight photographs taken in fields, not clean laboratory images. Augmentation specifically designed for ring texture would also help, as would class-balanced loss during training.</a:t>
            </a:r>
          </a:p>
          <a:p/>
          <a:p>
            <a:r>
              <a:t>We would also change the default model. On this harder test, EfficientNet-B0 at 50.9 percent beat the ensemble at 46.5 percent, so the ensemble is not automatically the right choice.</a:t>
            </a:r>
          </a:p>
          <a:p/>
          <a:p>
            <a:r>
              <a:t>Salina Kunwar will now summarise the limitations in full, before we show the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state our limitations clearly, because this is where an honest engineering report matters.</a:t>
            </a:r>
          </a:p>
          <a:p/>
          <a:p>
            <a:r>
              <a:t>First, the PlantDoc dataset has no valid healthy-potato annotations. That means our hardest test cannot measure the Healthy class at all. We can only report the three classes it actually contains.</a:t>
            </a:r>
          </a:p>
          <a:p/>
          <a:p>
            <a:r>
              <a:t>Second, and more serious: out of 34 genuine Non-Leaf images, 18 of them — 52.9 percent — still received a disease label instead of "Unknown". Our rejection layer is a real improvement over having nothing, but it is not solved, and we are not pretending otherwise.</a:t>
            </a:r>
          </a:p>
          <a:p/>
          <a:p>
            <a:r>
              <a:t>Third, the macro F1 score is 0.330 on this cross-source test. We deliberately quote F1 next to accuracy, because a single accuracy number can look reasonable while the model is actually failing badly on one class.</a:t>
            </a:r>
          </a:p>
          <a:p/>
          <a:p>
            <a:r>
              <a:t>Fourth, and the root cause of all of this: domain shift. Accuracy depends heavily on the camera, the lighting and the field. A model validated in a laboratory cannot simply be assumed to work in a farmer's hand.</a:t>
            </a:r>
          </a:p>
          <a:p/>
          <a:p>
            <a:r>
              <a:t>We show these openly because a system that cannot say "I do not know" is not safe to put in front of a farmer. These are known weaknesses we have documented, not surprises we discovered afterwards.</a:t>
            </a:r>
          </a:p>
          <a:p/>
          <a:p>
            <a:r>
              <a:t>Now let us show you what the application actually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product the farmer actually holds.</a:t>
            </a:r>
          </a:p>
          <a:p/>
          <a:p>
            <a:r>
              <a:t>The app is built with React Native and Expo, so we write one codebase and build a native Android application from it. It runs entirely on its own — no laptop, no desktop, no internet required for the interface itself.</a:t>
            </a:r>
          </a:p>
          <a:p/>
          <a:p>
            <a:r>
              <a:t>On the Diagnose screen the farmer can either take a photo or pick one from the gallery. They can also choose which model to use — the ensemble by default, or any single network for comparison.</a:t>
            </a:r>
          </a:p>
          <a:p/>
          <a:p>
            <a:r>
              <a:t>When a diagnosis returns, the app shows the label, the confidence percentage, and a Grad-CAM heatmap drawn directly over the leaf. The farmer can zoom into the hottest region to see exactly which spot on the leaf caused the decision.</a:t>
            </a:r>
          </a:p>
          <a:p/>
          <a:p>
            <a:r>
              <a:t>History keeps the last 50 diagnoses stored locally on the phone, and it is crash-safe — if the app is killed, the records are still there afterwards.</a:t>
            </a:r>
          </a:p>
          <a:p/>
          <a:p>
            <a:r>
              <a:t>There is also a reference section explaining each disease with symptoms and treatment steps, which works offline, plus a support chat that connects the farmer directly to the superadmin, news, location advisories and profile management.</a:t>
            </a:r>
          </a:p>
          <a:p/>
          <a:p>
            <a:r>
              <a:t>Salina Kunwar will now show the side the administrators see.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is only half of a real system. The other half is this superadmin console, which runs in an ordinary browser.</a:t>
            </a:r>
          </a:p>
          <a:p/>
          <a:p>
            <a:r>
              <a:t>This screenshot is not a mockup — it is the live production dashboard at our public URL.</a:t>
            </a:r>
          </a:p>
          <a:p/>
          <a:p>
            <a:r>
              <a:t>At the top you can see the real numbers: 10 farmer accounts, 10 active sessions, and 106 diagnoses recorded so far. Below that, two charts. On the left, the disease class mix — Early Blight is the most common, which matches what we would expect in the field. On the right, model usage, showing that most farmers are served by the ensemble.</a:t>
            </a:r>
          </a:p>
          <a:p/>
          <a:p>
            <a:r>
              <a:t>Underneath we can see the newest farmers and the most recent diagnoses with their confidence scores.</a:t>
            </a:r>
          </a:p>
          <a:p/>
          <a:p>
            <a:r>
              <a:t>On the right-hand side are the four other sections. Users handles farmer accounts, roles and suspension, with a detailed view for each farmer. Notices lets an administrator publish advisories with images directly to every phone. Tickets is a two-way support conversation — and importantly, if a farmer replies to a resolved ticket, it automatically reopens. Models shows the live inventory of every served model and which one is currently the default.</a:t>
            </a:r>
          </a:p>
          <a:p/>
          <a:p>
            <a:r>
              <a:t>Everything on this page is protected by the superadmin role check we showed in the class diagram.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make the point that this is not a demo that only works on our laptops.</a:t>
            </a:r>
          </a:p>
          <a:p/>
          <a:p>
            <a:r>
              <a:t>These numbers come straight from the production dashboard. There have been 106 diagnoses recorded, across 10 farmer accounts, and the system is serving four different models.</a:t>
            </a:r>
          </a:p>
          <a:p/>
          <a:p>
            <a:r>
              <a:t>Looking at the disease class mix: Early Blight appears 52 times, Late Blight 35 and Healthy 15. Early Blight being the most common matches what we expect from real field data.</a:t>
            </a:r>
          </a:p>
          <a:p/>
          <a:p>
            <a:r>
              <a:t>Looking at model usage: the ensemble handled 51 predictions, EfficientNet-B0 handled 19, MobileNetV2 17 and the Small CNN 16. Farmers can switch between models in the app, and every choice is logged, so we can compare how the models behave in real use rather than only in a test set.</a:t>
            </a:r>
          </a:p>
          <a:p/>
          <a:p>
            <a:r>
              <a:t>The small "smoke" entries are from our automated smoke test — a script that runs against the live server and confirms the whole pipeline still works after every change.</a:t>
            </a:r>
          </a:p>
          <a:p/>
          <a:p>
            <a:r>
              <a:t>This is the evidence that the system works end to end: a real Android app, a real server behind a real tunnel, and real traffic.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is not finished when it runs once — it is finished when it keeps running.</a:t>
            </a:r>
          </a:p>
          <a:p/>
          <a:p>
            <a:r>
              <a:t>We wrote 171 automated tests for the backend covering authentication, the three safety gates, history, notices and tickets, plus 23 mobile UI tests. On top of that we ran a 59-case automated emulator campaign that checks the user interface against the API. 58 of 59 passed, and the one failure was a known environment issue, not a logic error.</a:t>
            </a:r>
          </a:p>
          <a:p/>
          <a:p>
            <a:r>
              <a:t>On security: the server runs behind a Cloudflare named tunnel, which means there is no open port on the machine at all. Nothing is exposed directly to the internet. Passwords are stored hashed with PBKDF2, never in plain text, and every protected route is guarded by require_user or require_superadmin. Uploaded images use content-addressed storage with a safe_join function specifically to block path traversal attacks, which are one of the most common vulnerabilities in file-upload systems.</a:t>
            </a:r>
          </a:p>
          <a:p/>
          <a:p>
            <a:r>
              <a:t>We also learned a practical lesson about deployment. The admin console is served as static files straight from disk, but a CDN was caching the stylesheet for four hours while the HTML updated immediately. That combination rendered the page unstyled. We fixed it by putting a version query on every static asset, so a stale copy can never be served again.</a:t>
            </a:r>
          </a:p>
          <a:p/>
          <a:p>
            <a:r>
              <a:t>Salina Kunwar will close with our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finish, here is what we would do next.</a:t>
            </a:r>
          </a:p>
          <a:p/>
          <a:p>
            <a:r>
              <a:t>First, retrain on real field photographs. Our biggest weakness is that the test photos came from a different distribution than the training photos. Field images — especially of Early Blight, which is our worst class — would close that gap most directly.</a:t>
            </a:r>
          </a:p>
          <a:p/>
          <a:p>
            <a:r>
              <a:t>Second, switch the default model. On the harder test, EfficientNet-B0 beat the ensemble, so the ensemble is not automatically the right choice. We should make that change and re-measure.</a:t>
            </a:r>
          </a:p>
          <a:p/>
          <a:p>
            <a:r>
              <a:t>Third, tighten the rejection layer. A 52.9 percent open-set leak is too high. We would calibrate the gates more carefully and add hard negative examples during training.</a:t>
            </a:r>
          </a:p>
          <a:p/>
          <a:p>
            <a:r>
              <a:t>Fourth, on-device inference. If the model could run on the phone itself, a farmer with no network connection could still get a diagnosis.</a:t>
            </a:r>
          </a:p>
          <a:p/>
          <a:p>
            <a:r>
              <a:t>And with that, we would like to thank you for your time. We have tried to present both what works and what does not. We would rather defend a weakness openly than hide it — so please, any questions.</a:t>
            </a:r>
          </a:p>
          <a:p/>
          <a:p>
            <a:r>
              <a:t>Thank you, respected teacher and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anner_title.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u_logo_plate.png"/>
          <p:cNvPicPr>
            <a:picLocks noChangeAspect="1"/>
          </p:cNvPicPr>
          <p:nvPr/>
        </p:nvPicPr>
        <p:blipFill>
          <a:blip r:embed="rId3"/>
          <a:stretch>
            <a:fillRect/>
          </a:stretch>
        </p:blipFill>
        <p:spPr>
          <a:xfrm>
            <a:off x="566928" y="457200"/>
            <a:ext cx="2148840" cy="635623"/>
          </a:xfrm>
          <a:prstGeom prst="rect">
            <a:avLst/>
          </a:prstGeom>
        </p:spPr>
      </p:pic>
      <p:pic>
        <p:nvPicPr>
          <p:cNvPr id="6" name="Picture 5" descr="potatodoc_logo_plate.png"/>
          <p:cNvPicPr>
            <a:picLocks noChangeAspect="1"/>
          </p:cNvPicPr>
          <p:nvPr/>
        </p:nvPicPr>
        <p:blipFill>
          <a:blip r:embed="rId4"/>
          <a:stretch>
            <a:fillRect/>
          </a:stretch>
        </p:blipFill>
        <p:spPr>
          <a:xfrm>
            <a:off x="10378440" y="402336"/>
            <a:ext cx="1234440" cy="1234440"/>
          </a:xfrm>
          <a:prstGeom prst="rect">
            <a:avLst/>
          </a:prstGeom>
        </p:spPr>
      </p:pic>
      <p:sp>
        <p:nvSpPr>
          <p:cNvPr id="7" name="TextBox 6"/>
          <p:cNvSpPr txBox="1"/>
          <p:nvPr/>
        </p:nvSpPr>
        <p:spPr>
          <a:xfrm>
            <a:off x="685800" y="1847088"/>
            <a:ext cx="7680960" cy="274320"/>
          </a:xfrm>
          <a:prstGeom prst="rect">
            <a:avLst/>
          </a:prstGeom>
          <a:noFill/>
        </p:spPr>
        <p:txBody>
          <a:bodyPr wrap="square" anchor="t" lIns="0" rIns="0" tIns="0" bIns="0">
            <a:spAutoFit/>
          </a:bodyPr>
          <a:lstStyle/>
          <a:p>
            <a:pPr algn="l">
              <a:lnSpc>
                <a:spcPct val="106000"/>
              </a:lnSpc>
            </a:pPr>
            <a:r>
              <a:rPr sz="1250" b="1">
                <a:solidFill>
                  <a:srgbClr val="D6ECD1"/>
                </a:solidFill>
                <a:latin typeface="Calibri"/>
              </a:rPr>
              <a:t>FINAL YEAR PROJECT PRESENTATION</a:t>
            </a:r>
          </a:p>
        </p:txBody>
      </p:sp>
      <p:sp>
        <p:nvSpPr>
          <p:cNvPr id="8" name="TextBox 7"/>
          <p:cNvSpPr txBox="1"/>
          <p:nvPr/>
        </p:nvSpPr>
        <p:spPr>
          <a:xfrm>
            <a:off x="658368" y="2212848"/>
            <a:ext cx="8778240" cy="1188720"/>
          </a:xfrm>
          <a:prstGeom prst="rect">
            <a:avLst/>
          </a:prstGeom>
          <a:noFill/>
        </p:spPr>
        <p:txBody>
          <a:bodyPr wrap="square" anchor="t" lIns="0" rIns="0" tIns="0" bIns="0">
            <a:spAutoFit/>
          </a:bodyPr>
          <a:lstStyle/>
          <a:p>
            <a:pPr algn="l">
              <a:lnSpc>
                <a:spcPct val="106000"/>
              </a:lnSpc>
            </a:pPr>
            <a:r>
              <a:rPr sz="6800" b="1">
                <a:solidFill>
                  <a:srgbClr val="FFFFFF"/>
                </a:solidFill>
                <a:latin typeface="Georgia"/>
              </a:rPr>
              <a:t>PotatoDoc</a:t>
            </a:r>
          </a:p>
        </p:txBody>
      </p:sp>
      <p:sp>
        <p:nvSpPr>
          <p:cNvPr id="9" name="Rectangle 8"/>
          <p:cNvSpPr/>
          <p:nvPr/>
        </p:nvSpPr>
        <p:spPr>
          <a:xfrm>
            <a:off x="685800" y="3401568"/>
            <a:ext cx="2011680"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639312"/>
            <a:ext cx="7589520" cy="914400"/>
          </a:xfrm>
          <a:prstGeom prst="rect">
            <a:avLst/>
          </a:prstGeom>
          <a:noFill/>
        </p:spPr>
        <p:txBody>
          <a:bodyPr wrap="square" anchor="t" lIns="0" rIns="0" tIns="0" bIns="0">
            <a:spAutoFit/>
          </a:bodyPr>
          <a:lstStyle/>
          <a:p>
            <a:pPr algn="l">
              <a:lnSpc>
                <a:spcPct val="130000"/>
              </a:lnSpc>
            </a:pPr>
            <a:r>
              <a:rPr sz="1700" b="0">
                <a:solidFill>
                  <a:srgbClr val="E8F4EA"/>
                </a:solidFill>
                <a:latin typeface="Calibri"/>
              </a:rPr>
              <a:t>Diagnosing potato leaf disease from a single phone photo — with Grad-CAM heatmaps that show why, and an honest “Unknown” when the photo is not a potato leaf at all.</a:t>
            </a:r>
          </a:p>
        </p:txBody>
      </p:sp>
      <p:sp>
        <p:nvSpPr>
          <p:cNvPr id="11" name="Rounded Rectangle 10"/>
          <p:cNvSpPr/>
          <p:nvPr/>
        </p:nvSpPr>
        <p:spPr>
          <a:xfrm>
            <a:off x="658368" y="4882896"/>
            <a:ext cx="5943600" cy="1298448"/>
          </a:xfrm>
          <a:prstGeom prst="roundRect">
            <a:avLst>
              <a:gd name="adj" fmla="val 9000"/>
            </a:avLst>
          </a:prstGeom>
          <a:solidFill>
            <a:srgbClr val="082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029200"/>
            <a:ext cx="5486400" cy="274320"/>
          </a:xfrm>
          <a:prstGeom prst="rect">
            <a:avLst/>
          </a:prstGeom>
          <a:noFill/>
        </p:spPr>
        <p:txBody>
          <a:bodyPr wrap="square" anchor="t" lIns="0" rIns="0" tIns="0" bIns="0">
            <a:spAutoFit/>
          </a:bodyPr>
          <a:lstStyle/>
          <a:p>
            <a:pPr algn="l">
              <a:lnSpc>
                <a:spcPct val="106000"/>
              </a:lnSpc>
            </a:pPr>
            <a:r>
              <a:rPr sz="1000" b="1">
                <a:solidFill>
                  <a:srgbClr val="57B873"/>
                </a:solidFill>
                <a:latin typeface="Calibri"/>
              </a:rPr>
              <a:t>PRESENTED BY</a:t>
            </a:r>
          </a:p>
        </p:txBody>
      </p:sp>
      <p:sp>
        <p:nvSpPr>
          <p:cNvPr id="13" name="TextBox 12"/>
          <p:cNvSpPr txBox="1"/>
          <p:nvPr/>
        </p:nvSpPr>
        <p:spPr>
          <a:xfrm>
            <a:off x="914400" y="5321808"/>
            <a:ext cx="5486400" cy="822960"/>
          </a:xfrm>
          <a:prstGeom prst="rect">
            <a:avLst/>
          </a:prstGeom>
          <a:noFill/>
        </p:spPr>
        <p:txBody>
          <a:bodyPr wrap="square" anchor="t" lIns="0" rIns="0" tIns="0" bIns="0">
            <a:spAutoFit/>
          </a:bodyPr>
          <a:lstStyle/>
          <a:p>
            <a:pPr algn="l">
              <a:lnSpc>
                <a:spcPct val="124000"/>
              </a:lnSpc>
            </a:pPr>
            <a:r>
              <a:rPr sz="1550" b="1">
                <a:solidFill>
                  <a:srgbClr val="FFFFFF"/>
                </a:solidFill>
                <a:latin typeface="Georgia"/>
              </a:rPr>
              <a:t>Aswin Panta</a:t>
            </a:r>
          </a:p>
          <a:p/>
          <a:p>
            <a:pPr algn="l">
              <a:lnSpc>
                <a:spcPct val="124000"/>
              </a:lnSpc>
            </a:pPr>
            <a:r>
              <a:rPr sz="1550" b="1">
                <a:solidFill>
                  <a:srgbClr val="FFFFFF"/>
                </a:solidFill>
                <a:latin typeface="Georgia"/>
              </a:rPr>
              <a:t>Shadbhav Regmi</a:t>
            </a:r>
          </a:p>
          <a:p/>
          <a:p>
            <a:pPr algn="l">
              <a:lnSpc>
                <a:spcPct val="124000"/>
              </a:lnSpc>
            </a:pPr>
            <a:r>
              <a:rPr sz="1550" b="1">
                <a:solidFill>
                  <a:srgbClr val="FFFFFF"/>
                </a:solidFill>
                <a:latin typeface="Georgia"/>
              </a:rPr>
              <a:t>Salina Kunwar</a:t>
            </a:r>
          </a:p>
        </p:txBody>
      </p:sp>
      <p:sp>
        <p:nvSpPr>
          <p:cNvPr id="14" name="Rounded Rectangle 13"/>
          <p:cNvSpPr/>
          <p:nvPr/>
        </p:nvSpPr>
        <p:spPr>
          <a:xfrm>
            <a:off x="6858000" y="4882896"/>
            <a:ext cx="4663440" cy="1298448"/>
          </a:xfrm>
          <a:prstGeom prst="roundRect">
            <a:avLst>
              <a:gd name="adj" fmla="val 9000"/>
            </a:avLst>
          </a:prstGeom>
          <a:solidFill>
            <a:srgbClr val="082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14032" y="5029200"/>
            <a:ext cx="4206240" cy="274320"/>
          </a:xfrm>
          <a:prstGeom prst="rect">
            <a:avLst/>
          </a:prstGeom>
          <a:noFill/>
        </p:spPr>
        <p:txBody>
          <a:bodyPr wrap="square" anchor="t" lIns="0" rIns="0" tIns="0" bIns="0">
            <a:spAutoFit/>
          </a:bodyPr>
          <a:lstStyle/>
          <a:p>
            <a:pPr algn="l">
              <a:lnSpc>
                <a:spcPct val="106000"/>
              </a:lnSpc>
            </a:pPr>
            <a:r>
              <a:rPr sz="1000" b="1">
                <a:solidFill>
                  <a:srgbClr val="57B873"/>
                </a:solidFill>
                <a:latin typeface="Calibri"/>
              </a:rPr>
              <a:t>COURSE &amp; REVIEW</a:t>
            </a:r>
          </a:p>
        </p:txBody>
      </p:sp>
      <p:sp>
        <p:nvSpPr>
          <p:cNvPr id="16" name="TextBox 15"/>
          <p:cNvSpPr txBox="1"/>
          <p:nvPr/>
        </p:nvSpPr>
        <p:spPr>
          <a:xfrm>
            <a:off x="7114032" y="5321808"/>
            <a:ext cx="4160520" cy="822960"/>
          </a:xfrm>
          <a:prstGeom prst="rect">
            <a:avLst/>
          </a:prstGeom>
          <a:noFill/>
        </p:spPr>
        <p:txBody>
          <a:bodyPr wrap="square" anchor="t" lIns="0" rIns="0" tIns="0" bIns="0">
            <a:spAutoFit/>
          </a:bodyPr>
          <a:lstStyle/>
          <a:p>
            <a:pPr algn="l">
              <a:lnSpc>
                <a:spcPct val="120000"/>
              </a:lnSpc>
            </a:pPr>
            <a:r>
              <a:rPr sz="1300" b="1">
                <a:solidFill>
                  <a:srgbClr val="FFFFFF"/>
                </a:solidFill>
                <a:latin typeface="Calibri"/>
              </a:rPr>
              <a:t>BIT</a:t>
            </a:r>
          </a:p>
          <a:p/>
          <a:p>
            <a:pPr algn="l">
              <a:lnSpc>
                <a:spcPct val="120000"/>
              </a:lnSpc>
            </a:pPr>
            <a:r>
              <a:rPr sz="1250" b="0">
                <a:solidFill>
                  <a:srgbClr val="C9E6D1"/>
                </a:solidFill>
                <a:latin typeface="Calibri"/>
              </a:rPr>
              <a:t>External teacher: Er. Amrit Poudel</a:t>
            </a:r>
          </a:p>
          <a:p/>
          <a:p>
            <a:pPr algn="l">
              <a:lnSpc>
                <a:spcPct val="120000"/>
              </a:lnSpc>
            </a:pPr>
            <a:r>
              <a:rPr sz="1150" b="0">
                <a:solidFill>
                  <a:srgbClr val="9CC7A8"/>
                </a:solidFill>
                <a:latin typeface="Calibri"/>
              </a:rPr>
              <a:t>Submitted to Gandaki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01 · THE PROBLEM</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Why this project exists</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02</a:t>
            </a:r>
          </a:p>
        </p:txBody>
      </p:sp>
      <p:sp>
        <p:nvSpPr>
          <p:cNvPr id="9" name="TextBox 8"/>
          <p:cNvSpPr txBox="1"/>
          <p:nvPr/>
        </p:nvSpPr>
        <p:spPr>
          <a:xfrm>
            <a:off x="658368" y="1572768"/>
            <a:ext cx="5486400" cy="1371600"/>
          </a:xfrm>
          <a:prstGeom prst="rect">
            <a:avLst/>
          </a:prstGeom>
          <a:noFill/>
        </p:spPr>
        <p:txBody>
          <a:bodyPr wrap="square" anchor="t" lIns="0" rIns="0" tIns="0" bIns="0">
            <a:spAutoFit/>
          </a:bodyPr>
          <a:lstStyle/>
          <a:p>
            <a:pPr algn="l">
              <a:lnSpc>
                <a:spcPct val="130000"/>
              </a:lnSpc>
            </a:pPr>
            <a:r>
              <a:rPr sz="1700" b="0">
                <a:solidFill>
                  <a:srgbClr val="3A5143"/>
                </a:solidFill>
                <a:latin typeface="Calibri"/>
              </a:rPr>
              <a:t>Potato is a staple food crop in Nepal, but two diseases — Early Blight and Late Blight — can destroy a field within days.</a:t>
            </a:r>
          </a:p>
        </p:txBody>
      </p:sp>
      <p:sp>
        <p:nvSpPr>
          <p:cNvPr id="10" name="Rounded Rectangle 9"/>
          <p:cNvSpPr/>
          <p:nvPr/>
        </p:nvSpPr>
        <p:spPr>
          <a:xfrm>
            <a:off x="658368" y="2889504"/>
            <a:ext cx="5486400" cy="78638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889504"/>
            <a:ext cx="50292" cy="786384"/>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108960"/>
            <a:ext cx="4983480" cy="365760"/>
          </a:xfrm>
          <a:prstGeom prst="rect">
            <a:avLst/>
          </a:prstGeom>
          <a:noFill/>
        </p:spPr>
        <p:txBody>
          <a:bodyPr wrap="square" anchor="t" lIns="0" rIns="0" tIns="0" bIns="0">
            <a:spAutoFit/>
          </a:bodyPr>
          <a:lstStyle/>
          <a:p>
            <a:pPr algn="l">
              <a:lnSpc>
                <a:spcPct val="106000"/>
              </a:lnSpc>
            </a:pPr>
            <a:r>
              <a:rPr sz="1350" b="1">
                <a:solidFill>
                  <a:srgbClr val="0D3B1F"/>
                </a:solidFill>
                <a:latin typeface="Georgia"/>
              </a:rPr>
              <a:t>Farmer</a:t>
            </a:r>
          </a:p>
        </p:txBody>
      </p:sp>
      <p:sp>
        <p:nvSpPr>
          <p:cNvPr id="13" name="TextBox 12"/>
          <p:cNvSpPr txBox="1"/>
          <p:nvPr/>
        </p:nvSpPr>
        <p:spPr>
          <a:xfrm>
            <a:off x="932688" y="3566160"/>
            <a:ext cx="4983480" cy="-128016"/>
          </a:xfrm>
          <a:prstGeom prst="rect">
            <a:avLst/>
          </a:prstGeom>
          <a:noFill/>
        </p:spPr>
        <p:txBody>
          <a:bodyPr wrap="square" anchor="t" lIns="0" rIns="0" tIns="0" bIns="0">
            <a:spAutoFit/>
          </a:bodyPr>
          <a:lstStyle/>
          <a:p>
            <a:pPr algn="l">
              <a:lnSpc>
                <a:spcPct val="122000"/>
              </a:lnSpc>
            </a:pPr>
            <a:r>
              <a:rPr sz="1200" b="0">
                <a:solidFill>
                  <a:srgbClr val="3A5143"/>
                </a:solidFill>
                <a:latin typeface="Calibri"/>
              </a:rPr>
              <a:t>Usually cannot tell Early Blight from Late Blight without an expert standing in the field.</a:t>
            </a:r>
          </a:p>
        </p:txBody>
      </p:sp>
      <p:sp>
        <p:nvSpPr>
          <p:cNvPr id="14" name="Rounded Rectangle 13"/>
          <p:cNvSpPr/>
          <p:nvPr/>
        </p:nvSpPr>
        <p:spPr>
          <a:xfrm>
            <a:off x="658368" y="3785616"/>
            <a:ext cx="5486400" cy="78638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785616"/>
            <a:ext cx="50292" cy="786384"/>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005072"/>
            <a:ext cx="4983480" cy="365760"/>
          </a:xfrm>
          <a:prstGeom prst="rect">
            <a:avLst/>
          </a:prstGeom>
          <a:noFill/>
        </p:spPr>
        <p:txBody>
          <a:bodyPr wrap="square" anchor="t" lIns="0" rIns="0" tIns="0" bIns="0">
            <a:spAutoFit/>
          </a:bodyPr>
          <a:lstStyle/>
          <a:p>
            <a:pPr algn="l">
              <a:lnSpc>
                <a:spcPct val="106000"/>
              </a:lnSpc>
            </a:pPr>
            <a:r>
              <a:rPr sz="1350" b="1">
                <a:solidFill>
                  <a:srgbClr val="0D3B1F"/>
                </a:solidFill>
                <a:latin typeface="Georgia"/>
              </a:rPr>
              <a:t>Wrong call</a:t>
            </a:r>
          </a:p>
        </p:txBody>
      </p:sp>
      <p:sp>
        <p:nvSpPr>
          <p:cNvPr id="17" name="TextBox 16"/>
          <p:cNvSpPr txBox="1"/>
          <p:nvPr/>
        </p:nvSpPr>
        <p:spPr>
          <a:xfrm>
            <a:off x="932688" y="4462272"/>
            <a:ext cx="4983480" cy="-128016"/>
          </a:xfrm>
          <a:prstGeom prst="rect">
            <a:avLst/>
          </a:prstGeom>
          <a:noFill/>
        </p:spPr>
        <p:txBody>
          <a:bodyPr wrap="square" anchor="t" lIns="0" rIns="0" tIns="0" bIns="0">
            <a:spAutoFit/>
          </a:bodyPr>
          <a:lstStyle/>
          <a:p>
            <a:pPr algn="l">
              <a:lnSpc>
                <a:spcPct val="122000"/>
              </a:lnSpc>
            </a:pPr>
            <a:r>
              <a:rPr sz="1200" b="0">
                <a:solidFill>
                  <a:srgbClr val="3A5143"/>
                </a:solidFill>
                <a:latin typeface="Calibri"/>
              </a:rPr>
              <a:t>The wrong fungicide is sprayed. Money is wasted and the crop is still lost.</a:t>
            </a:r>
          </a:p>
        </p:txBody>
      </p:sp>
      <p:sp>
        <p:nvSpPr>
          <p:cNvPr id="18" name="Rounded Rectangle 17"/>
          <p:cNvSpPr/>
          <p:nvPr/>
        </p:nvSpPr>
        <p:spPr>
          <a:xfrm>
            <a:off x="658368" y="4681728"/>
            <a:ext cx="5486400" cy="78638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681728"/>
            <a:ext cx="50292" cy="786384"/>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901184"/>
            <a:ext cx="4983480" cy="365760"/>
          </a:xfrm>
          <a:prstGeom prst="rect">
            <a:avLst/>
          </a:prstGeom>
          <a:noFill/>
        </p:spPr>
        <p:txBody>
          <a:bodyPr wrap="square" anchor="t" lIns="0" rIns="0" tIns="0" bIns="0">
            <a:spAutoFit/>
          </a:bodyPr>
          <a:lstStyle/>
          <a:p>
            <a:pPr algn="l">
              <a:lnSpc>
                <a:spcPct val="106000"/>
              </a:lnSpc>
            </a:pPr>
            <a:r>
              <a:rPr sz="1350" b="1">
                <a:solidFill>
                  <a:srgbClr val="0D3B1F"/>
                </a:solidFill>
                <a:latin typeface="Georgia"/>
              </a:rPr>
              <a:t>No access</a:t>
            </a:r>
          </a:p>
        </p:txBody>
      </p:sp>
      <p:sp>
        <p:nvSpPr>
          <p:cNvPr id="21" name="TextBox 20"/>
          <p:cNvSpPr txBox="1"/>
          <p:nvPr/>
        </p:nvSpPr>
        <p:spPr>
          <a:xfrm>
            <a:off x="932688" y="5358384"/>
            <a:ext cx="4983480" cy="-128016"/>
          </a:xfrm>
          <a:prstGeom prst="rect">
            <a:avLst/>
          </a:prstGeom>
          <a:noFill/>
        </p:spPr>
        <p:txBody>
          <a:bodyPr wrap="square" anchor="t" lIns="0" rIns="0" tIns="0" bIns="0">
            <a:spAutoFit/>
          </a:bodyPr>
          <a:lstStyle/>
          <a:p>
            <a:pPr algn="l">
              <a:lnSpc>
                <a:spcPct val="122000"/>
              </a:lnSpc>
            </a:pPr>
            <a:r>
              <a:rPr sz="1200" b="0">
                <a:solidFill>
                  <a:srgbClr val="3A5143"/>
                </a:solidFill>
                <a:latin typeface="Calibri"/>
              </a:rPr>
              <a:t>Agricultural experts are not available in every village, and travel takes time.</a:t>
            </a:r>
          </a:p>
        </p:txBody>
      </p:sp>
      <p:sp>
        <p:nvSpPr>
          <p:cNvPr id="22" name="Rounded Rectangle 21"/>
          <p:cNvSpPr/>
          <p:nvPr/>
        </p:nvSpPr>
        <p:spPr>
          <a:xfrm>
            <a:off x="658368" y="5577840"/>
            <a:ext cx="5486400" cy="78638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5577840"/>
            <a:ext cx="50292" cy="786384"/>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5797296"/>
            <a:ext cx="4983480" cy="365760"/>
          </a:xfrm>
          <a:prstGeom prst="rect">
            <a:avLst/>
          </a:prstGeom>
          <a:noFill/>
        </p:spPr>
        <p:txBody>
          <a:bodyPr wrap="square" anchor="t" lIns="0" rIns="0" tIns="0" bIns="0">
            <a:spAutoFit/>
          </a:bodyPr>
          <a:lstStyle/>
          <a:p>
            <a:pPr algn="l">
              <a:lnSpc>
                <a:spcPct val="106000"/>
              </a:lnSpc>
            </a:pPr>
            <a:r>
              <a:rPr sz="1350" b="1">
                <a:solidFill>
                  <a:srgbClr val="0D3B1F"/>
                </a:solidFill>
                <a:latin typeface="Georgia"/>
              </a:rPr>
              <a:t>Too late</a:t>
            </a:r>
          </a:p>
        </p:txBody>
      </p:sp>
      <p:sp>
        <p:nvSpPr>
          <p:cNvPr id="25" name="TextBox 24"/>
          <p:cNvSpPr txBox="1"/>
          <p:nvPr/>
        </p:nvSpPr>
        <p:spPr>
          <a:xfrm>
            <a:off x="932688" y="6254496"/>
            <a:ext cx="4983480" cy="-128016"/>
          </a:xfrm>
          <a:prstGeom prst="rect">
            <a:avLst/>
          </a:prstGeom>
          <a:noFill/>
        </p:spPr>
        <p:txBody>
          <a:bodyPr wrap="square" anchor="t" lIns="0" rIns="0" tIns="0" bIns="0">
            <a:spAutoFit/>
          </a:bodyPr>
          <a:lstStyle/>
          <a:p>
            <a:pPr algn="l">
              <a:lnSpc>
                <a:spcPct val="122000"/>
              </a:lnSpc>
            </a:pPr>
            <a:r>
              <a:rPr sz="1200" b="0">
                <a:solidFill>
                  <a:srgbClr val="3A5143"/>
                </a:solidFill>
                <a:latin typeface="Calibri"/>
              </a:rPr>
              <a:t>By the time help arrives, the infection has already spread to neighbouring plants.</a:t>
            </a:r>
          </a:p>
        </p:txBody>
      </p:sp>
      <p:sp>
        <p:nvSpPr>
          <p:cNvPr id="26" name="Rounded Rectangle 25"/>
          <p:cNvSpPr/>
          <p:nvPr/>
        </p:nvSpPr>
        <p:spPr>
          <a:xfrm>
            <a:off x="6537960" y="1572768"/>
            <a:ext cx="4983480" cy="4297680"/>
          </a:xfrm>
          <a:prstGeom prst="roundRect">
            <a:avLst>
              <a:gd name="adj" fmla="val 5000"/>
            </a:avLst>
          </a:prstGeom>
          <a:solidFill>
            <a:srgbClr val="F7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1847088"/>
            <a:ext cx="4389120" cy="365760"/>
          </a:xfrm>
          <a:prstGeom prst="rect">
            <a:avLst/>
          </a:prstGeom>
          <a:noFill/>
        </p:spPr>
        <p:txBody>
          <a:bodyPr wrap="square" anchor="t" lIns="0" rIns="0" tIns="0" bIns="0">
            <a:spAutoFit/>
          </a:bodyPr>
          <a:lstStyle/>
          <a:p>
            <a:pPr algn="l">
              <a:lnSpc>
                <a:spcPct val="106000"/>
              </a:lnSpc>
            </a:pPr>
            <a:r>
              <a:rPr sz="1600" b="1">
                <a:solidFill>
                  <a:srgbClr val="0D3B1F"/>
                </a:solidFill>
                <a:latin typeface="Georgia"/>
              </a:rPr>
              <a:t>The gap we are closing</a:t>
            </a:r>
          </a:p>
        </p:txBody>
      </p:sp>
      <p:sp>
        <p:nvSpPr>
          <p:cNvPr id="28" name="Rounded Rectangle 27"/>
          <p:cNvSpPr/>
          <p:nvPr/>
        </p:nvSpPr>
        <p:spPr>
          <a:xfrm>
            <a:off x="6858000" y="2450592"/>
            <a:ext cx="146304" cy="146304"/>
          </a:xfrm>
          <a:prstGeom prst="roundRect">
            <a:avLst>
              <a:gd name="adj" fmla="val 5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50608" y="2395728"/>
            <a:ext cx="4114800" cy="274320"/>
          </a:xfrm>
          <a:prstGeom prst="rect">
            <a:avLst/>
          </a:prstGeom>
          <a:noFill/>
        </p:spPr>
        <p:txBody>
          <a:bodyPr wrap="square" anchor="t" lIns="0" rIns="0" tIns="0" bIns="0">
            <a:spAutoFit/>
          </a:bodyPr>
          <a:lstStyle/>
          <a:p>
            <a:pPr algn="l">
              <a:lnSpc>
                <a:spcPct val="106000"/>
              </a:lnSpc>
            </a:pPr>
            <a:r>
              <a:rPr sz="1350" b="1">
                <a:solidFill>
                  <a:srgbClr val="0D3B1F"/>
                </a:solidFill>
                <a:latin typeface="Calibri"/>
              </a:rPr>
              <a:t>Speed</a:t>
            </a:r>
          </a:p>
        </p:txBody>
      </p:sp>
      <p:sp>
        <p:nvSpPr>
          <p:cNvPr id="30" name="TextBox 29"/>
          <p:cNvSpPr txBox="1"/>
          <p:nvPr/>
        </p:nvSpPr>
        <p:spPr>
          <a:xfrm>
            <a:off x="7150608" y="2670048"/>
            <a:ext cx="4114800" cy="457200"/>
          </a:xfrm>
          <a:prstGeom prst="rect">
            <a:avLst/>
          </a:prstGeom>
          <a:noFill/>
        </p:spPr>
        <p:txBody>
          <a:bodyPr wrap="square" anchor="t" lIns="0" rIns="0" tIns="0" bIns="0">
            <a:spAutoFit/>
          </a:bodyPr>
          <a:lstStyle/>
          <a:p>
            <a:pPr algn="l">
              <a:lnSpc>
                <a:spcPct val="118000"/>
              </a:lnSpc>
            </a:pPr>
            <a:r>
              <a:rPr sz="1250" b="0">
                <a:solidFill>
                  <a:srgbClr val="3A5143"/>
                </a:solidFill>
                <a:latin typeface="Calibri"/>
              </a:rPr>
              <a:t>An answer in seconds, straight from the farmer's own phone.</a:t>
            </a:r>
          </a:p>
        </p:txBody>
      </p:sp>
      <p:sp>
        <p:nvSpPr>
          <p:cNvPr id="31" name="Rounded Rectangle 30"/>
          <p:cNvSpPr/>
          <p:nvPr/>
        </p:nvSpPr>
        <p:spPr>
          <a:xfrm>
            <a:off x="6858000" y="3328416"/>
            <a:ext cx="146304" cy="146304"/>
          </a:xfrm>
          <a:prstGeom prst="roundRect">
            <a:avLst>
              <a:gd name="adj" fmla="val 5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50608" y="3273552"/>
            <a:ext cx="4114800" cy="274320"/>
          </a:xfrm>
          <a:prstGeom prst="rect">
            <a:avLst/>
          </a:prstGeom>
          <a:noFill/>
        </p:spPr>
        <p:txBody>
          <a:bodyPr wrap="square" anchor="t" lIns="0" rIns="0" tIns="0" bIns="0">
            <a:spAutoFit/>
          </a:bodyPr>
          <a:lstStyle/>
          <a:p>
            <a:pPr algn="l">
              <a:lnSpc>
                <a:spcPct val="106000"/>
              </a:lnSpc>
            </a:pPr>
            <a:r>
              <a:rPr sz="1350" b="1">
                <a:solidFill>
                  <a:srgbClr val="0D3B1F"/>
                </a:solidFill>
                <a:latin typeface="Calibri"/>
              </a:rPr>
              <a:t>Cost</a:t>
            </a:r>
          </a:p>
        </p:txBody>
      </p:sp>
      <p:sp>
        <p:nvSpPr>
          <p:cNvPr id="33" name="TextBox 32"/>
          <p:cNvSpPr txBox="1"/>
          <p:nvPr/>
        </p:nvSpPr>
        <p:spPr>
          <a:xfrm>
            <a:off x="7150608" y="3547872"/>
            <a:ext cx="4114800" cy="457200"/>
          </a:xfrm>
          <a:prstGeom prst="rect">
            <a:avLst/>
          </a:prstGeom>
          <a:noFill/>
        </p:spPr>
        <p:txBody>
          <a:bodyPr wrap="square" anchor="t" lIns="0" rIns="0" tIns="0" bIns="0">
            <a:spAutoFit/>
          </a:bodyPr>
          <a:lstStyle/>
          <a:p>
            <a:pPr algn="l">
              <a:lnSpc>
                <a:spcPct val="118000"/>
              </a:lnSpc>
            </a:pPr>
            <a:r>
              <a:rPr sz="1250" b="0">
                <a:solidFill>
                  <a:srgbClr val="3A5143"/>
                </a:solidFill>
                <a:latin typeface="Calibri"/>
              </a:rPr>
              <a:t>No lab test, no expert visit, no extra equipment.</a:t>
            </a:r>
          </a:p>
        </p:txBody>
      </p:sp>
      <p:sp>
        <p:nvSpPr>
          <p:cNvPr id="34" name="Rounded Rectangle 33"/>
          <p:cNvSpPr/>
          <p:nvPr/>
        </p:nvSpPr>
        <p:spPr>
          <a:xfrm>
            <a:off x="6858000" y="4206240"/>
            <a:ext cx="146304" cy="146304"/>
          </a:xfrm>
          <a:prstGeom prst="roundRect">
            <a:avLst>
              <a:gd name="adj" fmla="val 5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50608" y="4151376"/>
            <a:ext cx="4114800" cy="274320"/>
          </a:xfrm>
          <a:prstGeom prst="rect">
            <a:avLst/>
          </a:prstGeom>
          <a:noFill/>
        </p:spPr>
        <p:txBody>
          <a:bodyPr wrap="square" anchor="t" lIns="0" rIns="0" tIns="0" bIns="0">
            <a:spAutoFit/>
          </a:bodyPr>
          <a:lstStyle/>
          <a:p>
            <a:pPr algn="l">
              <a:lnSpc>
                <a:spcPct val="106000"/>
              </a:lnSpc>
            </a:pPr>
            <a:r>
              <a:rPr sz="1350" b="1">
                <a:solidFill>
                  <a:srgbClr val="0D3B1F"/>
                </a:solidFill>
                <a:latin typeface="Calibri"/>
              </a:rPr>
              <a:t>Explainability</a:t>
            </a:r>
          </a:p>
        </p:txBody>
      </p:sp>
      <p:sp>
        <p:nvSpPr>
          <p:cNvPr id="36" name="TextBox 35"/>
          <p:cNvSpPr txBox="1"/>
          <p:nvPr/>
        </p:nvSpPr>
        <p:spPr>
          <a:xfrm>
            <a:off x="7150608" y="4425696"/>
            <a:ext cx="4114800" cy="457200"/>
          </a:xfrm>
          <a:prstGeom prst="rect">
            <a:avLst/>
          </a:prstGeom>
          <a:noFill/>
        </p:spPr>
        <p:txBody>
          <a:bodyPr wrap="square" anchor="t" lIns="0" rIns="0" tIns="0" bIns="0">
            <a:spAutoFit/>
          </a:bodyPr>
          <a:lstStyle/>
          <a:p>
            <a:pPr algn="l">
              <a:lnSpc>
                <a:spcPct val="118000"/>
              </a:lnSpc>
            </a:pPr>
            <a:r>
              <a:rPr sz="1250" b="0">
                <a:solidFill>
                  <a:srgbClr val="3A5143"/>
                </a:solidFill>
                <a:latin typeface="Calibri"/>
              </a:rPr>
              <a:t>A heatmap shows which part of the leaf drove the decision.</a:t>
            </a:r>
          </a:p>
        </p:txBody>
      </p:sp>
      <p:sp>
        <p:nvSpPr>
          <p:cNvPr id="37" name="Rounded Rectangle 36"/>
          <p:cNvSpPr/>
          <p:nvPr/>
        </p:nvSpPr>
        <p:spPr>
          <a:xfrm>
            <a:off x="6858000" y="5084064"/>
            <a:ext cx="146304" cy="146304"/>
          </a:xfrm>
          <a:prstGeom prst="roundRect">
            <a:avLst>
              <a:gd name="adj" fmla="val 5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50608" y="5029200"/>
            <a:ext cx="4114800" cy="274320"/>
          </a:xfrm>
          <a:prstGeom prst="rect">
            <a:avLst/>
          </a:prstGeom>
          <a:noFill/>
        </p:spPr>
        <p:txBody>
          <a:bodyPr wrap="square" anchor="t" lIns="0" rIns="0" tIns="0" bIns="0">
            <a:spAutoFit/>
          </a:bodyPr>
          <a:lstStyle/>
          <a:p>
            <a:pPr algn="l">
              <a:lnSpc>
                <a:spcPct val="106000"/>
              </a:lnSpc>
            </a:pPr>
            <a:r>
              <a:rPr sz="1350" b="1">
                <a:solidFill>
                  <a:srgbClr val="0D3B1F"/>
                </a:solidFill>
                <a:latin typeface="Calibri"/>
              </a:rPr>
              <a:t>Honesty</a:t>
            </a:r>
          </a:p>
        </p:txBody>
      </p:sp>
      <p:sp>
        <p:nvSpPr>
          <p:cNvPr id="39" name="TextBox 38"/>
          <p:cNvSpPr txBox="1"/>
          <p:nvPr/>
        </p:nvSpPr>
        <p:spPr>
          <a:xfrm>
            <a:off x="7150608" y="5303520"/>
            <a:ext cx="4114800" cy="457200"/>
          </a:xfrm>
          <a:prstGeom prst="rect">
            <a:avLst/>
          </a:prstGeom>
          <a:noFill/>
        </p:spPr>
        <p:txBody>
          <a:bodyPr wrap="square" anchor="t" lIns="0" rIns="0" tIns="0" bIns="0">
            <a:spAutoFit/>
          </a:bodyPr>
          <a:lstStyle/>
          <a:p>
            <a:pPr algn="l">
              <a:lnSpc>
                <a:spcPct val="118000"/>
              </a:lnSpc>
            </a:pPr>
            <a:r>
              <a:rPr sz="1250" b="0">
                <a:solidFill>
                  <a:srgbClr val="3A5143"/>
                </a:solidFill>
                <a:latin typeface="Calibri"/>
              </a:rPr>
              <a:t>Says “Unknown” instead of inventing a disease.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02 · OBJECTIVES</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What PotatoDoc delivers</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03</a:t>
            </a:r>
          </a:p>
        </p:txBody>
      </p:sp>
      <p:sp>
        <p:nvSpPr>
          <p:cNvPr id="9" name="Rounded Rectangle 8"/>
          <p:cNvSpPr/>
          <p:nvPr/>
        </p:nvSpPr>
        <p:spPr>
          <a:xfrm>
            <a:off x="658368" y="1627632"/>
            <a:ext cx="3529584" cy="197510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627632"/>
            <a:ext cx="3529584"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847088"/>
            <a:ext cx="914400" cy="365760"/>
          </a:xfrm>
          <a:prstGeom prst="rect">
            <a:avLst/>
          </a:prstGeom>
          <a:noFill/>
        </p:spPr>
        <p:txBody>
          <a:bodyPr wrap="square" anchor="t" lIns="0" rIns="0" tIns="0" bIns="0">
            <a:spAutoFit/>
          </a:bodyPr>
          <a:lstStyle/>
          <a:p>
            <a:pPr algn="l">
              <a:lnSpc>
                <a:spcPct val="106000"/>
              </a:lnSpc>
            </a:pPr>
            <a:r>
              <a:rPr sz="2200" b="1">
                <a:solidFill>
                  <a:srgbClr val="2E9E4F"/>
                </a:solidFill>
                <a:latin typeface="Georgia"/>
              </a:rPr>
              <a:t>01</a:t>
            </a:r>
          </a:p>
        </p:txBody>
      </p:sp>
      <p:sp>
        <p:nvSpPr>
          <p:cNvPr id="12" name="TextBox 11"/>
          <p:cNvSpPr txBox="1"/>
          <p:nvPr/>
        </p:nvSpPr>
        <p:spPr>
          <a:xfrm>
            <a:off x="896112" y="2286000"/>
            <a:ext cx="3072384" cy="365760"/>
          </a:xfrm>
          <a:prstGeom prst="rect">
            <a:avLst/>
          </a:prstGeom>
          <a:noFill/>
        </p:spPr>
        <p:txBody>
          <a:bodyPr wrap="square" anchor="t" lIns="0" rIns="0" tIns="0" bIns="0">
            <a:spAutoFit/>
          </a:bodyPr>
          <a:lstStyle/>
          <a:p>
            <a:pPr algn="l">
              <a:lnSpc>
                <a:spcPct val="106000"/>
              </a:lnSpc>
            </a:pPr>
            <a:r>
              <a:rPr sz="1450" b="1">
                <a:solidFill>
                  <a:srgbClr val="0D3B1F"/>
                </a:solidFill>
                <a:latin typeface="Georgia"/>
              </a:rPr>
              <a:t>Diagnose from a photo</a:t>
            </a:r>
          </a:p>
        </p:txBody>
      </p:sp>
      <p:sp>
        <p:nvSpPr>
          <p:cNvPr id="13" name="TextBox 12"/>
          <p:cNvSpPr txBox="1"/>
          <p:nvPr/>
        </p:nvSpPr>
        <p:spPr>
          <a:xfrm>
            <a:off x="896112" y="2670048"/>
            <a:ext cx="3072384" cy="82296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Take or choose a photo of a potato leaf and return one of four labels: Early Blight, Late Blight, Healthy, or Non-Leaf.</a:t>
            </a:r>
          </a:p>
        </p:txBody>
      </p:sp>
      <p:sp>
        <p:nvSpPr>
          <p:cNvPr id="14" name="Rounded Rectangle 13"/>
          <p:cNvSpPr/>
          <p:nvPr/>
        </p:nvSpPr>
        <p:spPr>
          <a:xfrm>
            <a:off x="4434840" y="1627632"/>
            <a:ext cx="3529584" cy="197510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1627632"/>
            <a:ext cx="3529584" cy="45720"/>
          </a:xfrm>
          <a:prstGeom prst="rect">
            <a:avLst/>
          </a:prstGeom>
          <a:solidFill>
            <a:srgbClr val="57B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72583" y="1847088"/>
            <a:ext cx="914400" cy="365760"/>
          </a:xfrm>
          <a:prstGeom prst="rect">
            <a:avLst/>
          </a:prstGeom>
          <a:noFill/>
        </p:spPr>
        <p:txBody>
          <a:bodyPr wrap="square" anchor="t" lIns="0" rIns="0" tIns="0" bIns="0">
            <a:spAutoFit/>
          </a:bodyPr>
          <a:lstStyle/>
          <a:p>
            <a:pPr algn="l">
              <a:lnSpc>
                <a:spcPct val="106000"/>
              </a:lnSpc>
            </a:pPr>
            <a:r>
              <a:rPr sz="2200" b="1">
                <a:solidFill>
                  <a:srgbClr val="57B873"/>
                </a:solidFill>
                <a:latin typeface="Georgia"/>
              </a:rPr>
              <a:t>02</a:t>
            </a:r>
          </a:p>
        </p:txBody>
      </p:sp>
      <p:sp>
        <p:nvSpPr>
          <p:cNvPr id="17" name="TextBox 16"/>
          <p:cNvSpPr txBox="1"/>
          <p:nvPr/>
        </p:nvSpPr>
        <p:spPr>
          <a:xfrm>
            <a:off x="4672583" y="2286000"/>
            <a:ext cx="3072384" cy="365760"/>
          </a:xfrm>
          <a:prstGeom prst="rect">
            <a:avLst/>
          </a:prstGeom>
          <a:noFill/>
        </p:spPr>
        <p:txBody>
          <a:bodyPr wrap="square" anchor="t" lIns="0" rIns="0" tIns="0" bIns="0">
            <a:spAutoFit/>
          </a:bodyPr>
          <a:lstStyle/>
          <a:p>
            <a:pPr algn="l">
              <a:lnSpc>
                <a:spcPct val="106000"/>
              </a:lnSpc>
            </a:pPr>
            <a:r>
              <a:rPr sz="1450" b="1">
                <a:solidFill>
                  <a:srgbClr val="0D3B1F"/>
                </a:solidFill>
                <a:latin typeface="Georgia"/>
              </a:rPr>
              <a:t>Explain the decision</a:t>
            </a:r>
          </a:p>
        </p:txBody>
      </p:sp>
      <p:sp>
        <p:nvSpPr>
          <p:cNvPr id="18" name="TextBox 17"/>
          <p:cNvSpPr txBox="1"/>
          <p:nvPr/>
        </p:nvSpPr>
        <p:spPr>
          <a:xfrm>
            <a:off x="4672583" y="2670048"/>
            <a:ext cx="3072384" cy="82296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Draw a Grad-CAM heatmap over the image so the farmer can see the region that influenced the prediction.</a:t>
            </a:r>
          </a:p>
        </p:txBody>
      </p:sp>
      <p:sp>
        <p:nvSpPr>
          <p:cNvPr id="19" name="Rounded Rectangle 18"/>
          <p:cNvSpPr/>
          <p:nvPr/>
        </p:nvSpPr>
        <p:spPr>
          <a:xfrm>
            <a:off x="8211312" y="1627632"/>
            <a:ext cx="3529584" cy="197510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11312" y="1627632"/>
            <a:ext cx="3529584" cy="45720"/>
          </a:xfrm>
          <a:prstGeom prst="rect">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49056" y="1847088"/>
            <a:ext cx="914400" cy="365760"/>
          </a:xfrm>
          <a:prstGeom prst="rect">
            <a:avLst/>
          </a:prstGeom>
          <a:noFill/>
        </p:spPr>
        <p:txBody>
          <a:bodyPr wrap="square" anchor="t" lIns="0" rIns="0" tIns="0" bIns="0">
            <a:spAutoFit/>
          </a:bodyPr>
          <a:lstStyle/>
          <a:p>
            <a:pPr algn="l">
              <a:lnSpc>
                <a:spcPct val="106000"/>
              </a:lnSpc>
            </a:pPr>
            <a:r>
              <a:rPr sz="2200" b="1">
                <a:solidFill>
                  <a:srgbClr val="D98324"/>
                </a:solidFill>
                <a:latin typeface="Georgia"/>
              </a:rPr>
              <a:t>03</a:t>
            </a:r>
          </a:p>
        </p:txBody>
      </p:sp>
      <p:sp>
        <p:nvSpPr>
          <p:cNvPr id="22" name="TextBox 21"/>
          <p:cNvSpPr txBox="1"/>
          <p:nvPr/>
        </p:nvSpPr>
        <p:spPr>
          <a:xfrm>
            <a:off x="8449056" y="2286000"/>
            <a:ext cx="3072384" cy="365760"/>
          </a:xfrm>
          <a:prstGeom prst="rect">
            <a:avLst/>
          </a:prstGeom>
          <a:noFill/>
        </p:spPr>
        <p:txBody>
          <a:bodyPr wrap="square" anchor="t" lIns="0" rIns="0" tIns="0" bIns="0">
            <a:spAutoFit/>
          </a:bodyPr>
          <a:lstStyle/>
          <a:p>
            <a:pPr algn="l">
              <a:lnSpc>
                <a:spcPct val="106000"/>
              </a:lnSpc>
            </a:pPr>
            <a:r>
              <a:rPr sz="1450" b="1">
                <a:solidFill>
                  <a:srgbClr val="0D3B1F"/>
                </a:solidFill>
                <a:latin typeface="Georgia"/>
              </a:rPr>
              <a:t>Refuse to guess</a:t>
            </a:r>
          </a:p>
        </p:txBody>
      </p:sp>
      <p:sp>
        <p:nvSpPr>
          <p:cNvPr id="23" name="TextBox 22"/>
          <p:cNvSpPr txBox="1"/>
          <p:nvPr/>
        </p:nvSpPr>
        <p:spPr>
          <a:xfrm>
            <a:off x="8449056" y="2670048"/>
            <a:ext cx="3072384" cy="82296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A three-layer safety check rejects photos that are not leaves or that the model is unsure about, answering “Unknown”.</a:t>
            </a:r>
          </a:p>
        </p:txBody>
      </p:sp>
      <p:sp>
        <p:nvSpPr>
          <p:cNvPr id="24" name="Rounded Rectangle 23"/>
          <p:cNvSpPr/>
          <p:nvPr/>
        </p:nvSpPr>
        <p:spPr>
          <a:xfrm>
            <a:off x="658368" y="3840480"/>
            <a:ext cx="3529584" cy="197510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840480"/>
            <a:ext cx="3529584"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059936"/>
            <a:ext cx="914400" cy="365760"/>
          </a:xfrm>
          <a:prstGeom prst="rect">
            <a:avLst/>
          </a:prstGeom>
          <a:noFill/>
        </p:spPr>
        <p:txBody>
          <a:bodyPr wrap="square" anchor="t" lIns="0" rIns="0" tIns="0" bIns="0">
            <a:spAutoFit/>
          </a:bodyPr>
          <a:lstStyle/>
          <a:p>
            <a:pPr algn="l">
              <a:lnSpc>
                <a:spcPct val="106000"/>
              </a:lnSpc>
            </a:pPr>
            <a:r>
              <a:rPr sz="2200" b="1">
                <a:solidFill>
                  <a:srgbClr val="2E9E4F"/>
                </a:solidFill>
                <a:latin typeface="Georgia"/>
              </a:rPr>
              <a:t>04</a:t>
            </a:r>
          </a:p>
        </p:txBody>
      </p:sp>
      <p:sp>
        <p:nvSpPr>
          <p:cNvPr id="27" name="TextBox 26"/>
          <p:cNvSpPr txBox="1"/>
          <p:nvPr/>
        </p:nvSpPr>
        <p:spPr>
          <a:xfrm>
            <a:off x="896112" y="4498848"/>
            <a:ext cx="3072384" cy="365760"/>
          </a:xfrm>
          <a:prstGeom prst="rect">
            <a:avLst/>
          </a:prstGeom>
          <a:noFill/>
        </p:spPr>
        <p:txBody>
          <a:bodyPr wrap="square" anchor="t" lIns="0" rIns="0" tIns="0" bIns="0">
            <a:spAutoFit/>
          </a:bodyPr>
          <a:lstStyle/>
          <a:p>
            <a:pPr algn="l">
              <a:lnSpc>
                <a:spcPct val="106000"/>
              </a:lnSpc>
            </a:pPr>
            <a:r>
              <a:rPr sz="1450" b="1">
                <a:solidFill>
                  <a:srgbClr val="0D3B1F"/>
                </a:solidFill>
                <a:latin typeface="Georgia"/>
              </a:rPr>
              <a:t>Run in the field</a:t>
            </a:r>
          </a:p>
        </p:txBody>
      </p:sp>
      <p:sp>
        <p:nvSpPr>
          <p:cNvPr id="28" name="TextBox 27"/>
          <p:cNvSpPr txBox="1"/>
          <p:nvPr/>
        </p:nvSpPr>
        <p:spPr>
          <a:xfrm>
            <a:off x="896112" y="4882896"/>
            <a:ext cx="3072384" cy="82296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A production Android app with history, disease reference, news, location advisories and a support chat.</a:t>
            </a:r>
          </a:p>
        </p:txBody>
      </p:sp>
      <p:sp>
        <p:nvSpPr>
          <p:cNvPr id="29" name="Rounded Rectangle 28"/>
          <p:cNvSpPr/>
          <p:nvPr/>
        </p:nvSpPr>
        <p:spPr>
          <a:xfrm>
            <a:off x="4434840" y="3840480"/>
            <a:ext cx="3529584" cy="197510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34840" y="3840480"/>
            <a:ext cx="3529584" cy="45720"/>
          </a:xfrm>
          <a:prstGeom prst="rect">
            <a:avLst/>
          </a:prstGeom>
          <a:solidFill>
            <a:srgbClr val="0D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72583" y="4059936"/>
            <a:ext cx="914400" cy="365760"/>
          </a:xfrm>
          <a:prstGeom prst="rect">
            <a:avLst/>
          </a:prstGeom>
          <a:noFill/>
        </p:spPr>
        <p:txBody>
          <a:bodyPr wrap="square" anchor="t" lIns="0" rIns="0" tIns="0" bIns="0">
            <a:spAutoFit/>
          </a:bodyPr>
          <a:lstStyle/>
          <a:p>
            <a:pPr algn="l">
              <a:lnSpc>
                <a:spcPct val="106000"/>
              </a:lnSpc>
            </a:pPr>
            <a:r>
              <a:rPr sz="2200" b="1">
                <a:solidFill>
                  <a:srgbClr val="0D3B1F"/>
                </a:solidFill>
                <a:latin typeface="Georgia"/>
              </a:rPr>
              <a:t>05</a:t>
            </a:r>
          </a:p>
        </p:txBody>
      </p:sp>
      <p:sp>
        <p:nvSpPr>
          <p:cNvPr id="32" name="TextBox 31"/>
          <p:cNvSpPr txBox="1"/>
          <p:nvPr/>
        </p:nvSpPr>
        <p:spPr>
          <a:xfrm>
            <a:off x="4672583" y="4498848"/>
            <a:ext cx="3072384" cy="365760"/>
          </a:xfrm>
          <a:prstGeom prst="rect">
            <a:avLst/>
          </a:prstGeom>
          <a:noFill/>
        </p:spPr>
        <p:txBody>
          <a:bodyPr wrap="square" anchor="t" lIns="0" rIns="0" tIns="0" bIns="0">
            <a:spAutoFit/>
          </a:bodyPr>
          <a:lstStyle/>
          <a:p>
            <a:pPr algn="l">
              <a:lnSpc>
                <a:spcPct val="106000"/>
              </a:lnSpc>
            </a:pPr>
            <a:r>
              <a:rPr sz="1450" b="1">
                <a:solidFill>
                  <a:srgbClr val="0D3B1F"/>
                </a:solidFill>
                <a:latin typeface="Georgia"/>
              </a:rPr>
              <a:t>Stay accountable</a:t>
            </a:r>
          </a:p>
        </p:txBody>
      </p:sp>
      <p:sp>
        <p:nvSpPr>
          <p:cNvPr id="33" name="TextBox 32"/>
          <p:cNvSpPr txBox="1"/>
          <p:nvPr/>
        </p:nvSpPr>
        <p:spPr>
          <a:xfrm>
            <a:off x="4672583" y="4882896"/>
            <a:ext cx="3072384" cy="82296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A superadmin console that monitors real usage — farmers, diagnoses, notices, tickets and model performance.</a:t>
            </a:r>
          </a:p>
        </p:txBody>
      </p:sp>
      <p:sp>
        <p:nvSpPr>
          <p:cNvPr id="34" name="Rounded Rectangle 33"/>
          <p:cNvSpPr/>
          <p:nvPr/>
        </p:nvSpPr>
        <p:spPr>
          <a:xfrm>
            <a:off x="8211312" y="3840480"/>
            <a:ext cx="3328416" cy="1975104"/>
          </a:xfrm>
          <a:prstGeom prst="roundRect">
            <a:avLst>
              <a:gd name="adj" fmla="val 7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49056" y="4059936"/>
            <a:ext cx="2834640" cy="365760"/>
          </a:xfrm>
          <a:prstGeom prst="rect">
            <a:avLst/>
          </a:prstGeom>
          <a:noFill/>
        </p:spPr>
        <p:txBody>
          <a:bodyPr wrap="square" anchor="t" lIns="0" rIns="0" tIns="0" bIns="0">
            <a:spAutoFit/>
          </a:bodyPr>
          <a:lstStyle/>
          <a:p>
            <a:pPr algn="l">
              <a:lnSpc>
                <a:spcPct val="106000"/>
              </a:lnSpc>
            </a:pPr>
            <a:r>
              <a:rPr sz="1450" b="1">
                <a:solidFill>
                  <a:srgbClr val="0D3B1F"/>
                </a:solidFill>
                <a:latin typeface="Georgia"/>
              </a:rPr>
              <a:t>Four labels</a:t>
            </a:r>
          </a:p>
        </p:txBody>
      </p:sp>
      <p:sp>
        <p:nvSpPr>
          <p:cNvPr id="36" name="Rounded Rectangle 35"/>
          <p:cNvSpPr/>
          <p:nvPr/>
        </p:nvSpPr>
        <p:spPr>
          <a:xfrm>
            <a:off x="8467344" y="4544568"/>
            <a:ext cx="137160" cy="137160"/>
          </a:xfrm>
          <a:prstGeom prst="roundRect">
            <a:avLst>
              <a:gd name="adj" fmla="val 50000"/>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23376" y="4498848"/>
            <a:ext cx="2651760" cy="274320"/>
          </a:xfrm>
          <a:prstGeom prst="rect">
            <a:avLst/>
          </a:prstGeom>
          <a:noFill/>
        </p:spPr>
        <p:txBody>
          <a:bodyPr wrap="square" anchor="t" lIns="0" rIns="0" tIns="0" bIns="0">
            <a:spAutoFit/>
          </a:bodyPr>
          <a:lstStyle/>
          <a:p>
            <a:pPr algn="l">
              <a:lnSpc>
                <a:spcPct val="106000"/>
              </a:lnSpc>
            </a:pPr>
            <a:r>
              <a:rPr sz="1250" b="0">
                <a:solidFill>
                  <a:srgbClr val="3A5143"/>
                </a:solidFill>
                <a:latin typeface="Calibri"/>
              </a:rPr>
              <a:t>Early Blight</a:t>
            </a:r>
          </a:p>
        </p:txBody>
      </p:sp>
      <p:sp>
        <p:nvSpPr>
          <p:cNvPr id="38" name="Rounded Rectangle 37"/>
          <p:cNvSpPr/>
          <p:nvPr/>
        </p:nvSpPr>
        <p:spPr>
          <a:xfrm>
            <a:off x="8467344" y="4855464"/>
            <a:ext cx="137160" cy="137160"/>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23376" y="4809744"/>
            <a:ext cx="2651760" cy="274320"/>
          </a:xfrm>
          <a:prstGeom prst="rect">
            <a:avLst/>
          </a:prstGeom>
          <a:noFill/>
        </p:spPr>
        <p:txBody>
          <a:bodyPr wrap="square" anchor="t" lIns="0" rIns="0" tIns="0" bIns="0">
            <a:spAutoFit/>
          </a:bodyPr>
          <a:lstStyle/>
          <a:p>
            <a:pPr algn="l">
              <a:lnSpc>
                <a:spcPct val="106000"/>
              </a:lnSpc>
            </a:pPr>
            <a:r>
              <a:rPr sz="1250" b="0">
                <a:solidFill>
                  <a:srgbClr val="3A5143"/>
                </a:solidFill>
                <a:latin typeface="Calibri"/>
              </a:rPr>
              <a:t>Late Blight</a:t>
            </a:r>
          </a:p>
        </p:txBody>
      </p:sp>
      <p:sp>
        <p:nvSpPr>
          <p:cNvPr id="40" name="Rounded Rectangle 39"/>
          <p:cNvSpPr/>
          <p:nvPr/>
        </p:nvSpPr>
        <p:spPr>
          <a:xfrm>
            <a:off x="8467344" y="5166359"/>
            <a:ext cx="137160" cy="137160"/>
          </a:xfrm>
          <a:prstGeom prst="roundRect">
            <a:avLst>
              <a:gd name="adj" fmla="val 5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23376" y="5120640"/>
            <a:ext cx="2651760" cy="274320"/>
          </a:xfrm>
          <a:prstGeom prst="rect">
            <a:avLst/>
          </a:prstGeom>
          <a:noFill/>
        </p:spPr>
        <p:txBody>
          <a:bodyPr wrap="square" anchor="t" lIns="0" rIns="0" tIns="0" bIns="0">
            <a:spAutoFit/>
          </a:bodyPr>
          <a:lstStyle/>
          <a:p>
            <a:pPr algn="l">
              <a:lnSpc>
                <a:spcPct val="106000"/>
              </a:lnSpc>
            </a:pPr>
            <a:r>
              <a:rPr sz="1250" b="0">
                <a:solidFill>
                  <a:srgbClr val="3A5143"/>
                </a:solidFill>
                <a:latin typeface="Calibri"/>
              </a:rPr>
              <a:t>Healthy</a:t>
            </a:r>
          </a:p>
        </p:txBody>
      </p:sp>
      <p:sp>
        <p:nvSpPr>
          <p:cNvPr id="42" name="Rounded Rectangle 41"/>
          <p:cNvSpPr/>
          <p:nvPr/>
        </p:nvSpPr>
        <p:spPr>
          <a:xfrm>
            <a:off x="8467344" y="5477255"/>
            <a:ext cx="137160" cy="137160"/>
          </a:xfrm>
          <a:prstGeom prst="roundRect">
            <a:avLst>
              <a:gd name="adj" fmla="val 50000"/>
            </a:avLst>
          </a:prstGeom>
          <a:solidFill>
            <a:srgbClr val="7E94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23376" y="5431536"/>
            <a:ext cx="2651760" cy="274320"/>
          </a:xfrm>
          <a:prstGeom prst="rect">
            <a:avLst/>
          </a:prstGeom>
          <a:noFill/>
        </p:spPr>
        <p:txBody>
          <a:bodyPr wrap="square" anchor="t" lIns="0" rIns="0" tIns="0" bIns="0">
            <a:spAutoFit/>
          </a:bodyPr>
          <a:lstStyle/>
          <a:p>
            <a:pPr algn="l">
              <a:lnSpc>
                <a:spcPct val="106000"/>
              </a:lnSpc>
            </a:pPr>
            <a:r>
              <a:rPr sz="1250" b="0">
                <a:solidFill>
                  <a:srgbClr val="3A5143"/>
                </a:solidFill>
                <a:latin typeface="Calibri"/>
              </a:rPr>
              <a:t>Non-Leaf (reject)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03 · ARCHITECTURE</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System flow — from photo to answer</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04</a:t>
            </a:r>
          </a:p>
        </p:txBody>
      </p:sp>
      <p:sp>
        <p:nvSpPr>
          <p:cNvPr id="9" name="Rectangle 8"/>
          <p:cNvSpPr/>
          <p:nvPr/>
        </p:nvSpPr>
        <p:spPr>
          <a:xfrm>
            <a:off x="1791348" y="1444752"/>
            <a:ext cx="8606254" cy="4736592"/>
          </a:xfrm>
          <a:prstGeom prst="rect">
            <a:avLst/>
          </a:prstGeom>
          <a:solidFill>
            <a:srgbClr val="FFFFFF"/>
          </a:solidFill>
          <a:ln w="1524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low.png"/>
          <p:cNvPicPr>
            <a:picLocks noChangeAspect="1"/>
          </p:cNvPicPr>
          <p:nvPr/>
        </p:nvPicPr>
        <p:blipFill>
          <a:blip r:embed="rId2"/>
          <a:stretch>
            <a:fillRect/>
          </a:stretch>
        </p:blipFill>
        <p:spPr>
          <a:xfrm>
            <a:off x="1827924" y="1481328"/>
            <a:ext cx="8533102" cy="46634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04 · BACKEND</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Class and module structure</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05</a:t>
            </a:r>
          </a:p>
        </p:txBody>
      </p:sp>
      <p:sp>
        <p:nvSpPr>
          <p:cNvPr id="9" name="Rectangle 8"/>
          <p:cNvSpPr/>
          <p:nvPr/>
        </p:nvSpPr>
        <p:spPr>
          <a:xfrm>
            <a:off x="1880235" y="1444752"/>
            <a:ext cx="8428482" cy="4736592"/>
          </a:xfrm>
          <a:prstGeom prst="rect">
            <a:avLst/>
          </a:prstGeom>
          <a:solidFill>
            <a:srgbClr val="FFFFFF"/>
          </a:solidFill>
          <a:ln w="1524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lasses.png"/>
          <p:cNvPicPr>
            <a:picLocks noChangeAspect="1"/>
          </p:cNvPicPr>
          <p:nvPr/>
        </p:nvPicPr>
        <p:blipFill>
          <a:blip r:embed="rId2"/>
          <a:stretch>
            <a:fillRect/>
          </a:stretch>
        </p:blipFill>
        <p:spPr>
          <a:xfrm>
            <a:off x="1916811" y="1481328"/>
            <a:ext cx="8355329" cy="46634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05 · SAFETY DESIGN</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Three gates before any answer</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06</a:t>
            </a:r>
          </a:p>
        </p:txBody>
      </p:sp>
      <p:sp>
        <p:nvSpPr>
          <p:cNvPr id="9" name="TextBox 8"/>
          <p:cNvSpPr txBox="1"/>
          <p:nvPr/>
        </p:nvSpPr>
        <p:spPr>
          <a:xfrm>
            <a:off x="658368" y="1554480"/>
            <a:ext cx="10881360" cy="457200"/>
          </a:xfrm>
          <a:prstGeom prst="rect">
            <a:avLst/>
          </a:prstGeom>
          <a:noFill/>
        </p:spPr>
        <p:txBody>
          <a:bodyPr wrap="square" anchor="t" lIns="0" rIns="0" tIns="0" bIns="0">
            <a:spAutoFit/>
          </a:bodyPr>
          <a:lstStyle/>
          <a:p>
            <a:pPr algn="l">
              <a:lnSpc>
                <a:spcPct val="125000"/>
              </a:lnSpc>
            </a:pPr>
            <a:r>
              <a:rPr sz="1500" b="0">
                <a:solidFill>
                  <a:srgbClr val="3A5143"/>
                </a:solidFill>
                <a:latin typeface="Calibri"/>
              </a:rPr>
              <a:t>A wrong diagnosis is worse than no diagnosis. Every photo must pass three independent checks before the models are even consulted.</a:t>
            </a:r>
          </a:p>
        </p:txBody>
      </p:sp>
      <p:sp>
        <p:nvSpPr>
          <p:cNvPr id="10" name="Rounded Rectangle 9"/>
          <p:cNvSpPr/>
          <p:nvPr/>
        </p:nvSpPr>
        <p:spPr>
          <a:xfrm>
            <a:off x="658368" y="2212848"/>
            <a:ext cx="3529584" cy="2468880"/>
          </a:xfrm>
          <a:prstGeom prst="roundRect">
            <a:avLst>
              <a:gd name="adj" fmla="val 6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2212848"/>
            <a:ext cx="3529584" cy="402336"/>
          </a:xfrm>
          <a:prstGeom prst="roundRect">
            <a:avLst>
              <a:gd name="adj" fmla="val 4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286000"/>
            <a:ext cx="3529584" cy="274320"/>
          </a:xfrm>
          <a:prstGeom prst="rect">
            <a:avLst/>
          </a:prstGeom>
          <a:noFill/>
        </p:spPr>
        <p:txBody>
          <a:bodyPr wrap="square" anchor="t" lIns="0" rIns="0" tIns="0" bIns="0">
            <a:spAutoFit/>
          </a:bodyPr>
          <a:lstStyle/>
          <a:p>
            <a:pPr algn="ctr">
              <a:lnSpc>
                <a:spcPct val="106000"/>
              </a:lnSpc>
            </a:pPr>
            <a:r>
              <a:rPr sz="1250" b="1">
                <a:solidFill>
                  <a:srgbClr val="FFFFFF"/>
                </a:solidFill>
                <a:latin typeface="Calibri"/>
              </a:rPr>
              <a:t>Gate 1</a:t>
            </a:r>
          </a:p>
        </p:txBody>
      </p:sp>
      <p:sp>
        <p:nvSpPr>
          <p:cNvPr id="13" name="TextBox 12"/>
          <p:cNvSpPr txBox="1"/>
          <p:nvPr/>
        </p:nvSpPr>
        <p:spPr>
          <a:xfrm>
            <a:off x="914400" y="2761488"/>
            <a:ext cx="3017520" cy="365760"/>
          </a:xfrm>
          <a:prstGeom prst="rect">
            <a:avLst/>
          </a:prstGeom>
          <a:noFill/>
        </p:spPr>
        <p:txBody>
          <a:bodyPr wrap="square" anchor="t" lIns="0" rIns="0" tIns="0" bIns="0">
            <a:spAutoFit/>
          </a:bodyPr>
          <a:lstStyle/>
          <a:p>
            <a:pPr algn="l">
              <a:lnSpc>
                <a:spcPct val="106000"/>
              </a:lnSpc>
            </a:pPr>
            <a:r>
              <a:rPr sz="1500" b="1">
                <a:solidFill>
                  <a:srgbClr val="0D3B1F"/>
                </a:solidFill>
                <a:latin typeface="Georgia"/>
              </a:rPr>
              <a:t>Green-pixel check</a:t>
            </a:r>
          </a:p>
        </p:txBody>
      </p:sp>
      <p:sp>
        <p:nvSpPr>
          <p:cNvPr id="14" name="TextBox 13"/>
          <p:cNvSpPr txBox="1"/>
          <p:nvPr/>
        </p:nvSpPr>
        <p:spPr>
          <a:xfrm>
            <a:off x="914400" y="3200400"/>
            <a:ext cx="3017520" cy="109728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If the image has almost no green content it cannot be a leaf. Cheap, fast, and it filters out walls, floors and paperwork before any model runs.</a:t>
            </a:r>
          </a:p>
        </p:txBody>
      </p:sp>
      <p:sp>
        <p:nvSpPr>
          <p:cNvPr id="15" name="Rounded Rectangle 14"/>
          <p:cNvSpPr/>
          <p:nvPr/>
        </p:nvSpPr>
        <p:spPr>
          <a:xfrm>
            <a:off x="914400" y="4261104"/>
            <a:ext cx="3017520" cy="329184"/>
          </a:xfrm>
          <a:prstGeom prst="roundRect">
            <a:avLst>
              <a:gd name="adj" fmla="val 2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334256"/>
            <a:ext cx="3017520" cy="274320"/>
          </a:xfrm>
          <a:prstGeom prst="rect">
            <a:avLst/>
          </a:prstGeom>
          <a:noFill/>
        </p:spPr>
        <p:txBody>
          <a:bodyPr wrap="square" anchor="t" lIns="0" rIns="0" tIns="0" bIns="0">
            <a:spAutoFit/>
          </a:bodyPr>
          <a:lstStyle/>
          <a:p>
            <a:pPr algn="ctr">
              <a:lnSpc>
                <a:spcPct val="106000"/>
              </a:lnSpc>
            </a:pPr>
            <a:r>
              <a:rPr sz="1100" b="1">
                <a:solidFill>
                  <a:srgbClr val="0D3B1F"/>
                </a:solidFill>
                <a:latin typeface="Calibri"/>
              </a:rPr>
              <a:t>green_ratio(img) &gt; threshold</a:t>
            </a:r>
          </a:p>
        </p:txBody>
      </p:sp>
      <p:sp>
        <p:nvSpPr>
          <p:cNvPr id="17" name="TextBox 16"/>
          <p:cNvSpPr txBox="1"/>
          <p:nvPr/>
        </p:nvSpPr>
        <p:spPr>
          <a:xfrm>
            <a:off x="4206240" y="3200400"/>
            <a:ext cx="256032" cy="365760"/>
          </a:xfrm>
          <a:prstGeom prst="rect">
            <a:avLst/>
          </a:prstGeom>
          <a:noFill/>
        </p:spPr>
        <p:txBody>
          <a:bodyPr wrap="square" anchor="t" lIns="0" rIns="0" tIns="0" bIns="0">
            <a:spAutoFit/>
          </a:bodyPr>
          <a:lstStyle/>
          <a:p>
            <a:pPr algn="ctr">
              <a:lnSpc>
                <a:spcPct val="106000"/>
              </a:lnSpc>
            </a:pPr>
            <a:r>
              <a:rPr sz="2000" b="1">
                <a:solidFill>
                  <a:srgbClr val="7E9486"/>
                </a:solidFill>
                <a:latin typeface="Calibri"/>
              </a:rPr>
              <a:t>→</a:t>
            </a:r>
          </a:p>
        </p:txBody>
      </p:sp>
      <p:sp>
        <p:nvSpPr>
          <p:cNvPr id="18" name="Rounded Rectangle 17"/>
          <p:cNvSpPr/>
          <p:nvPr/>
        </p:nvSpPr>
        <p:spPr>
          <a:xfrm>
            <a:off x="4434840" y="2212848"/>
            <a:ext cx="3529584" cy="2468880"/>
          </a:xfrm>
          <a:prstGeom prst="roundRect">
            <a:avLst>
              <a:gd name="adj" fmla="val 6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34840" y="2212848"/>
            <a:ext cx="3529584" cy="402336"/>
          </a:xfrm>
          <a:prstGeom prst="roundRect">
            <a:avLst>
              <a:gd name="adj" fmla="val 40000"/>
            </a:avLst>
          </a:prstGeom>
          <a:solidFill>
            <a:srgbClr val="57B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2286000"/>
            <a:ext cx="3529584" cy="274320"/>
          </a:xfrm>
          <a:prstGeom prst="rect">
            <a:avLst/>
          </a:prstGeom>
          <a:noFill/>
        </p:spPr>
        <p:txBody>
          <a:bodyPr wrap="square" anchor="t" lIns="0" rIns="0" tIns="0" bIns="0">
            <a:spAutoFit/>
          </a:bodyPr>
          <a:lstStyle/>
          <a:p>
            <a:pPr algn="ctr">
              <a:lnSpc>
                <a:spcPct val="106000"/>
              </a:lnSpc>
            </a:pPr>
            <a:r>
              <a:rPr sz="1250" b="1">
                <a:solidFill>
                  <a:srgbClr val="FFFFFF"/>
                </a:solidFill>
                <a:latin typeface="Calibri"/>
              </a:rPr>
              <a:t>Gate 2</a:t>
            </a:r>
          </a:p>
        </p:txBody>
      </p:sp>
      <p:sp>
        <p:nvSpPr>
          <p:cNvPr id="21" name="TextBox 20"/>
          <p:cNvSpPr txBox="1"/>
          <p:nvPr/>
        </p:nvSpPr>
        <p:spPr>
          <a:xfrm>
            <a:off x="4690872" y="2761488"/>
            <a:ext cx="3017520" cy="365760"/>
          </a:xfrm>
          <a:prstGeom prst="rect">
            <a:avLst/>
          </a:prstGeom>
          <a:noFill/>
        </p:spPr>
        <p:txBody>
          <a:bodyPr wrap="square" anchor="t" lIns="0" rIns="0" tIns="0" bIns="0">
            <a:spAutoFit/>
          </a:bodyPr>
          <a:lstStyle/>
          <a:p>
            <a:pPr algn="l">
              <a:lnSpc>
                <a:spcPct val="106000"/>
              </a:lnSpc>
            </a:pPr>
            <a:r>
              <a:rPr sz="1500" b="1">
                <a:solidFill>
                  <a:srgbClr val="0D3B1F"/>
                </a:solidFill>
                <a:latin typeface="Georgia"/>
              </a:rPr>
              <a:t>Trained Non-Leaf class</a:t>
            </a:r>
          </a:p>
        </p:txBody>
      </p:sp>
      <p:sp>
        <p:nvSpPr>
          <p:cNvPr id="22" name="TextBox 21"/>
          <p:cNvSpPr txBox="1"/>
          <p:nvPr/>
        </p:nvSpPr>
        <p:spPr>
          <a:xfrm>
            <a:off x="4690872" y="3200400"/>
            <a:ext cx="3017520" cy="109728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Non-Leaf is a real fourth training class, so the network has learned what a non-leaf looks like — people, dogs, buildings, soil.</a:t>
            </a:r>
          </a:p>
        </p:txBody>
      </p:sp>
      <p:sp>
        <p:nvSpPr>
          <p:cNvPr id="23" name="Rounded Rectangle 22"/>
          <p:cNvSpPr/>
          <p:nvPr/>
        </p:nvSpPr>
        <p:spPr>
          <a:xfrm>
            <a:off x="4690872" y="4261104"/>
            <a:ext cx="3017520" cy="329184"/>
          </a:xfrm>
          <a:prstGeom prst="roundRect">
            <a:avLst>
              <a:gd name="adj" fmla="val 2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90872" y="4334256"/>
            <a:ext cx="3017520" cy="274320"/>
          </a:xfrm>
          <a:prstGeom prst="rect">
            <a:avLst/>
          </a:prstGeom>
          <a:noFill/>
        </p:spPr>
        <p:txBody>
          <a:bodyPr wrap="square" anchor="t" lIns="0" rIns="0" tIns="0" bIns="0">
            <a:spAutoFit/>
          </a:bodyPr>
          <a:lstStyle/>
          <a:p>
            <a:pPr algn="ctr">
              <a:lnSpc>
                <a:spcPct val="106000"/>
              </a:lnSpc>
            </a:pPr>
            <a:r>
              <a:rPr sz="1100" b="1">
                <a:solidFill>
                  <a:srgbClr val="0D3B1F"/>
                </a:solidFill>
                <a:latin typeface="Calibri"/>
              </a:rPr>
              <a:t>argmax includes “Non-Leaf”</a:t>
            </a:r>
          </a:p>
        </p:txBody>
      </p:sp>
      <p:sp>
        <p:nvSpPr>
          <p:cNvPr id="25" name="TextBox 24"/>
          <p:cNvSpPr txBox="1"/>
          <p:nvPr/>
        </p:nvSpPr>
        <p:spPr>
          <a:xfrm>
            <a:off x="7982712" y="3200400"/>
            <a:ext cx="256032" cy="365760"/>
          </a:xfrm>
          <a:prstGeom prst="rect">
            <a:avLst/>
          </a:prstGeom>
          <a:noFill/>
        </p:spPr>
        <p:txBody>
          <a:bodyPr wrap="square" anchor="t" lIns="0" rIns="0" tIns="0" bIns="0">
            <a:spAutoFit/>
          </a:bodyPr>
          <a:lstStyle/>
          <a:p>
            <a:pPr algn="ctr">
              <a:lnSpc>
                <a:spcPct val="106000"/>
              </a:lnSpc>
            </a:pPr>
            <a:r>
              <a:rPr sz="2000" b="1">
                <a:solidFill>
                  <a:srgbClr val="7E9486"/>
                </a:solidFill>
                <a:latin typeface="Calibri"/>
              </a:rPr>
              <a:t>→</a:t>
            </a:r>
          </a:p>
        </p:txBody>
      </p:sp>
      <p:sp>
        <p:nvSpPr>
          <p:cNvPr id="26" name="Rounded Rectangle 25"/>
          <p:cNvSpPr/>
          <p:nvPr/>
        </p:nvSpPr>
        <p:spPr>
          <a:xfrm>
            <a:off x="8211312" y="2212848"/>
            <a:ext cx="3529584" cy="2468880"/>
          </a:xfrm>
          <a:prstGeom prst="roundRect">
            <a:avLst>
              <a:gd name="adj" fmla="val 6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11312" y="2212848"/>
            <a:ext cx="3529584" cy="402336"/>
          </a:xfrm>
          <a:prstGeom prst="roundRect">
            <a:avLst>
              <a:gd name="adj" fmla="val 40000"/>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1312" y="2286000"/>
            <a:ext cx="3529584" cy="274320"/>
          </a:xfrm>
          <a:prstGeom prst="rect">
            <a:avLst/>
          </a:prstGeom>
          <a:noFill/>
        </p:spPr>
        <p:txBody>
          <a:bodyPr wrap="square" anchor="t" lIns="0" rIns="0" tIns="0" bIns="0">
            <a:spAutoFit/>
          </a:bodyPr>
          <a:lstStyle/>
          <a:p>
            <a:pPr algn="ctr">
              <a:lnSpc>
                <a:spcPct val="106000"/>
              </a:lnSpc>
            </a:pPr>
            <a:r>
              <a:rPr sz="1250" b="1">
                <a:solidFill>
                  <a:srgbClr val="FFFFFF"/>
                </a:solidFill>
                <a:latin typeface="Calibri"/>
              </a:rPr>
              <a:t>Gate 3</a:t>
            </a:r>
          </a:p>
        </p:txBody>
      </p:sp>
      <p:sp>
        <p:nvSpPr>
          <p:cNvPr id="29" name="TextBox 28"/>
          <p:cNvSpPr txBox="1"/>
          <p:nvPr/>
        </p:nvSpPr>
        <p:spPr>
          <a:xfrm>
            <a:off x="8467344" y="2761488"/>
            <a:ext cx="3017520" cy="365760"/>
          </a:xfrm>
          <a:prstGeom prst="rect">
            <a:avLst/>
          </a:prstGeom>
          <a:noFill/>
        </p:spPr>
        <p:txBody>
          <a:bodyPr wrap="square" anchor="t" lIns="0" rIns="0" tIns="0" bIns="0">
            <a:spAutoFit/>
          </a:bodyPr>
          <a:lstStyle/>
          <a:p>
            <a:pPr algn="l">
              <a:lnSpc>
                <a:spcPct val="106000"/>
              </a:lnSpc>
            </a:pPr>
            <a:r>
              <a:rPr sz="1500" b="1">
                <a:solidFill>
                  <a:srgbClr val="0D3B1F"/>
                </a:solidFill>
                <a:latin typeface="Georgia"/>
              </a:rPr>
              <a:t>Entropy rule</a:t>
            </a:r>
          </a:p>
        </p:txBody>
      </p:sp>
      <p:sp>
        <p:nvSpPr>
          <p:cNvPr id="30" name="TextBox 29"/>
          <p:cNvSpPr txBox="1"/>
          <p:nvPr/>
        </p:nvSpPr>
        <p:spPr>
          <a:xfrm>
            <a:off x="8467344" y="3200400"/>
            <a:ext cx="3017520" cy="109728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If the probability spread is too flat, the model is unsure. We return Unknown rather than picking the highest of four uncertain numbers.</a:t>
            </a:r>
          </a:p>
        </p:txBody>
      </p:sp>
      <p:sp>
        <p:nvSpPr>
          <p:cNvPr id="31" name="Rounded Rectangle 30"/>
          <p:cNvSpPr/>
          <p:nvPr/>
        </p:nvSpPr>
        <p:spPr>
          <a:xfrm>
            <a:off x="8467344" y="4261104"/>
            <a:ext cx="3017520" cy="329184"/>
          </a:xfrm>
          <a:prstGeom prst="roundRect">
            <a:avLst>
              <a:gd name="adj" fmla="val 2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67344" y="4334256"/>
            <a:ext cx="3017520" cy="274320"/>
          </a:xfrm>
          <a:prstGeom prst="rect">
            <a:avLst/>
          </a:prstGeom>
          <a:noFill/>
        </p:spPr>
        <p:txBody>
          <a:bodyPr wrap="square" anchor="t" lIns="0" rIns="0" tIns="0" bIns="0">
            <a:spAutoFit/>
          </a:bodyPr>
          <a:lstStyle/>
          <a:p>
            <a:pPr algn="ctr">
              <a:lnSpc>
                <a:spcPct val="106000"/>
              </a:lnSpc>
            </a:pPr>
            <a:r>
              <a:rPr sz="1100" b="1">
                <a:solidFill>
                  <a:srgbClr val="0D3B1F"/>
                </a:solidFill>
                <a:latin typeface="Calibri"/>
              </a:rPr>
              <a:t>norm_entropy(p) &lt; τ</a:t>
            </a:r>
          </a:p>
        </p:txBody>
      </p:sp>
      <p:sp>
        <p:nvSpPr>
          <p:cNvPr id="33" name="Rounded Rectangle 32"/>
          <p:cNvSpPr/>
          <p:nvPr/>
        </p:nvSpPr>
        <p:spPr>
          <a:xfrm>
            <a:off x="658368" y="4937760"/>
            <a:ext cx="10881360" cy="1005840"/>
          </a:xfrm>
          <a:prstGeom prst="roundRect">
            <a:avLst>
              <a:gd name="adj" fmla="val 12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5102352"/>
            <a:ext cx="3017520" cy="365760"/>
          </a:xfrm>
          <a:prstGeom prst="rect">
            <a:avLst/>
          </a:prstGeom>
          <a:noFill/>
        </p:spPr>
        <p:txBody>
          <a:bodyPr wrap="square" anchor="t" lIns="0" rIns="0" tIns="0" bIns="0">
            <a:spAutoFit/>
          </a:bodyPr>
          <a:lstStyle/>
          <a:p>
            <a:pPr algn="l">
              <a:lnSpc>
                <a:spcPct val="106000"/>
              </a:lnSpc>
            </a:pPr>
            <a:r>
              <a:rPr sz="1500" b="1">
                <a:solidFill>
                  <a:srgbClr val="0D3B1F"/>
                </a:solidFill>
                <a:latin typeface="Georgia"/>
              </a:rPr>
              <a:t>If any gate fails</a:t>
            </a:r>
          </a:p>
        </p:txBody>
      </p:sp>
      <p:sp>
        <p:nvSpPr>
          <p:cNvPr id="35" name="TextBox 34"/>
          <p:cNvSpPr txBox="1"/>
          <p:nvPr/>
        </p:nvSpPr>
        <p:spPr>
          <a:xfrm>
            <a:off x="960120" y="5468112"/>
            <a:ext cx="4937760" cy="365760"/>
          </a:xfrm>
          <a:prstGeom prst="rect">
            <a:avLst/>
          </a:prstGeom>
          <a:noFill/>
        </p:spPr>
        <p:txBody>
          <a:bodyPr wrap="square" anchor="t" lIns="0" rIns="0" tIns="0" bIns="0">
            <a:spAutoFit/>
          </a:bodyPr>
          <a:lstStyle/>
          <a:p>
            <a:pPr algn="l">
              <a:lnSpc>
                <a:spcPct val="106000"/>
              </a:lnSpc>
            </a:pPr>
            <a:r>
              <a:rPr sz="1350" b="0">
                <a:solidFill>
                  <a:srgbClr val="3A5143"/>
                </a:solidFill>
                <a:latin typeface="Calibri"/>
              </a:rPr>
              <a:t>the response is “Unknown” — never a guessed disease.</a:t>
            </a:r>
          </a:p>
        </p:txBody>
      </p:sp>
      <p:sp>
        <p:nvSpPr>
          <p:cNvPr id="36" name="Rectangle 35"/>
          <p:cNvSpPr/>
          <p:nvPr/>
        </p:nvSpPr>
        <p:spPr>
          <a:xfrm>
            <a:off x="6309360" y="5120640"/>
            <a:ext cx="18288" cy="658368"/>
          </a:xfrm>
          <a:prstGeom prst="rect">
            <a:avLst/>
          </a:prstGeom>
          <a:solidFill>
            <a:srgbClr val="CFE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5102352"/>
            <a:ext cx="4572000" cy="365760"/>
          </a:xfrm>
          <a:prstGeom prst="rect">
            <a:avLst/>
          </a:prstGeom>
          <a:noFill/>
        </p:spPr>
        <p:txBody>
          <a:bodyPr wrap="square" anchor="t" lIns="0" rIns="0" tIns="0" bIns="0">
            <a:spAutoFit/>
          </a:bodyPr>
          <a:lstStyle/>
          <a:p>
            <a:pPr algn="l">
              <a:lnSpc>
                <a:spcPct val="106000"/>
              </a:lnSpc>
            </a:pPr>
            <a:r>
              <a:rPr sz="1500" b="1">
                <a:solidFill>
                  <a:srgbClr val="0D3B1F"/>
                </a:solidFill>
                <a:latin typeface="Georgia"/>
              </a:rPr>
              <a:t>If all three pass</a:t>
            </a:r>
          </a:p>
        </p:txBody>
      </p:sp>
      <p:sp>
        <p:nvSpPr>
          <p:cNvPr id="38" name="TextBox 37"/>
          <p:cNvSpPr txBox="1"/>
          <p:nvPr/>
        </p:nvSpPr>
        <p:spPr>
          <a:xfrm>
            <a:off x="6675120" y="5468112"/>
            <a:ext cx="4754880" cy="365760"/>
          </a:xfrm>
          <a:prstGeom prst="rect">
            <a:avLst/>
          </a:prstGeom>
          <a:noFill/>
        </p:spPr>
        <p:txBody>
          <a:bodyPr wrap="square" anchor="t" lIns="0" rIns="0" tIns="0" bIns="0">
            <a:spAutoFit/>
          </a:bodyPr>
          <a:lstStyle/>
          <a:p>
            <a:pPr algn="l">
              <a:lnSpc>
                <a:spcPct val="106000"/>
              </a:lnSpc>
            </a:pPr>
            <a:r>
              <a:rPr sz="1350" b="0">
                <a:solidFill>
                  <a:srgbClr val="3A5143"/>
                </a:solidFill>
                <a:latin typeface="Calibri"/>
              </a:rPr>
              <a:t>the ensemble answers and Grad-CAM explains why.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06 · MACHINE LEARNING</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Three models, one answer</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07</a:t>
            </a:r>
          </a:p>
        </p:txBody>
      </p:sp>
      <p:sp>
        <p:nvSpPr>
          <p:cNvPr id="9" name="Rounded Rectangle 8"/>
          <p:cNvSpPr/>
          <p:nvPr/>
        </p:nvSpPr>
        <p:spPr>
          <a:xfrm>
            <a:off x="658368" y="1609344"/>
            <a:ext cx="3529584" cy="2286000"/>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609344"/>
            <a:ext cx="3529584"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47088"/>
            <a:ext cx="3017520" cy="365760"/>
          </a:xfrm>
          <a:prstGeom prst="rect">
            <a:avLst/>
          </a:prstGeom>
          <a:noFill/>
        </p:spPr>
        <p:txBody>
          <a:bodyPr wrap="square" anchor="t" lIns="0" rIns="0" tIns="0" bIns="0">
            <a:spAutoFit/>
          </a:bodyPr>
          <a:lstStyle/>
          <a:p>
            <a:pPr algn="l">
              <a:lnSpc>
                <a:spcPct val="106000"/>
              </a:lnSpc>
            </a:pPr>
            <a:r>
              <a:rPr sz="1600" b="1">
                <a:solidFill>
                  <a:srgbClr val="0D3B1F"/>
                </a:solidFill>
                <a:latin typeface="Georgia"/>
              </a:rPr>
              <a:t>Small CNN</a:t>
            </a:r>
          </a:p>
        </p:txBody>
      </p:sp>
      <p:sp>
        <p:nvSpPr>
          <p:cNvPr id="12" name="TextBox 11"/>
          <p:cNvSpPr txBox="1"/>
          <p:nvPr/>
        </p:nvSpPr>
        <p:spPr>
          <a:xfrm>
            <a:off x="914400" y="2231136"/>
            <a:ext cx="3017520" cy="274320"/>
          </a:xfrm>
          <a:prstGeom prst="rect">
            <a:avLst/>
          </a:prstGeom>
          <a:noFill/>
        </p:spPr>
        <p:txBody>
          <a:bodyPr wrap="square" anchor="t" lIns="0" rIns="0" tIns="0" bIns="0">
            <a:spAutoFit/>
          </a:bodyPr>
          <a:lstStyle/>
          <a:p>
            <a:pPr algn="l">
              <a:lnSpc>
                <a:spcPct val="106000"/>
              </a:lnSpc>
            </a:pPr>
            <a:r>
              <a:rPr sz="1000" b="1">
                <a:solidFill>
                  <a:srgbClr val="2E9E4F"/>
                </a:solidFill>
                <a:latin typeface="Calibri"/>
              </a:rPr>
              <a:t>BUILT FROM SCRATCH</a:t>
            </a:r>
          </a:p>
        </p:txBody>
      </p:sp>
      <p:sp>
        <p:nvSpPr>
          <p:cNvPr id="13" name="TextBox 12"/>
          <p:cNvSpPr txBox="1"/>
          <p:nvPr/>
        </p:nvSpPr>
        <p:spPr>
          <a:xfrm>
            <a:off x="914400" y="2578608"/>
            <a:ext cx="3017520" cy="91440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A compact convolutional network we trained ourselves. Fast, small, and a useful baseline to compare the others against.</a:t>
            </a:r>
          </a:p>
        </p:txBody>
      </p:sp>
      <p:sp>
        <p:nvSpPr>
          <p:cNvPr id="14" name="TextBox 13"/>
          <p:cNvSpPr txBox="1"/>
          <p:nvPr/>
        </p:nvSpPr>
        <p:spPr>
          <a:xfrm>
            <a:off x="914400" y="3493008"/>
            <a:ext cx="3017520" cy="365760"/>
          </a:xfrm>
          <a:prstGeom prst="rect">
            <a:avLst/>
          </a:prstGeom>
          <a:noFill/>
        </p:spPr>
        <p:txBody>
          <a:bodyPr wrap="square" anchor="t" lIns="0" rIns="0" tIns="0" bIns="0">
            <a:spAutoFit/>
          </a:bodyPr>
          <a:lstStyle/>
          <a:p>
            <a:pPr algn="l">
              <a:lnSpc>
                <a:spcPct val="106000"/>
              </a:lnSpc>
            </a:pPr>
            <a:r>
              <a:rPr sz="2400" b="1">
                <a:solidFill>
                  <a:srgbClr val="2E9E4F"/>
                </a:solidFill>
                <a:latin typeface="Georgia"/>
              </a:rPr>
              <a:t>96.33%</a:t>
            </a:r>
          </a:p>
        </p:txBody>
      </p:sp>
      <p:sp>
        <p:nvSpPr>
          <p:cNvPr id="15" name="Rounded Rectangle 14"/>
          <p:cNvSpPr/>
          <p:nvPr/>
        </p:nvSpPr>
        <p:spPr>
          <a:xfrm>
            <a:off x="4434840" y="1609344"/>
            <a:ext cx="3529584" cy="2286000"/>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34840" y="1609344"/>
            <a:ext cx="3529584"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90872" y="1847088"/>
            <a:ext cx="3017520" cy="365760"/>
          </a:xfrm>
          <a:prstGeom prst="rect">
            <a:avLst/>
          </a:prstGeom>
          <a:noFill/>
        </p:spPr>
        <p:txBody>
          <a:bodyPr wrap="square" anchor="t" lIns="0" rIns="0" tIns="0" bIns="0">
            <a:spAutoFit/>
          </a:bodyPr>
          <a:lstStyle/>
          <a:p>
            <a:pPr algn="l">
              <a:lnSpc>
                <a:spcPct val="106000"/>
              </a:lnSpc>
            </a:pPr>
            <a:r>
              <a:rPr sz="1600" b="1">
                <a:solidFill>
                  <a:srgbClr val="0D3B1F"/>
                </a:solidFill>
                <a:latin typeface="Georgia"/>
              </a:rPr>
              <a:t>MobileNetV2</a:t>
            </a:r>
          </a:p>
        </p:txBody>
      </p:sp>
      <p:sp>
        <p:nvSpPr>
          <p:cNvPr id="18" name="TextBox 17"/>
          <p:cNvSpPr txBox="1"/>
          <p:nvPr/>
        </p:nvSpPr>
        <p:spPr>
          <a:xfrm>
            <a:off x="4690872" y="2231136"/>
            <a:ext cx="3017520" cy="274320"/>
          </a:xfrm>
          <a:prstGeom prst="rect">
            <a:avLst/>
          </a:prstGeom>
          <a:noFill/>
        </p:spPr>
        <p:txBody>
          <a:bodyPr wrap="square" anchor="t" lIns="0" rIns="0" tIns="0" bIns="0">
            <a:spAutoFit/>
          </a:bodyPr>
          <a:lstStyle/>
          <a:p>
            <a:pPr algn="l">
              <a:lnSpc>
                <a:spcPct val="106000"/>
              </a:lnSpc>
            </a:pPr>
            <a:r>
              <a:rPr sz="1000" b="1">
                <a:solidFill>
                  <a:srgbClr val="2E9E4F"/>
                </a:solidFill>
                <a:latin typeface="Calibri"/>
              </a:rPr>
              <a:t>TRANSFER LEARNING</a:t>
            </a:r>
          </a:p>
        </p:txBody>
      </p:sp>
      <p:sp>
        <p:nvSpPr>
          <p:cNvPr id="19" name="TextBox 18"/>
          <p:cNvSpPr txBox="1"/>
          <p:nvPr/>
        </p:nvSpPr>
        <p:spPr>
          <a:xfrm>
            <a:off x="4690872" y="2578608"/>
            <a:ext cx="3017520" cy="91440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A mobile-optimised network pretrained on ImageNet and fine-tuned on our potato data. Efficient enough to run cheaply.</a:t>
            </a:r>
          </a:p>
        </p:txBody>
      </p:sp>
      <p:sp>
        <p:nvSpPr>
          <p:cNvPr id="20" name="TextBox 19"/>
          <p:cNvSpPr txBox="1"/>
          <p:nvPr/>
        </p:nvSpPr>
        <p:spPr>
          <a:xfrm>
            <a:off x="4690872" y="3493008"/>
            <a:ext cx="3017520" cy="365760"/>
          </a:xfrm>
          <a:prstGeom prst="rect">
            <a:avLst/>
          </a:prstGeom>
          <a:noFill/>
        </p:spPr>
        <p:txBody>
          <a:bodyPr wrap="square" anchor="t" lIns="0" rIns="0" tIns="0" bIns="0">
            <a:spAutoFit/>
          </a:bodyPr>
          <a:lstStyle/>
          <a:p>
            <a:pPr algn="l">
              <a:lnSpc>
                <a:spcPct val="106000"/>
              </a:lnSpc>
            </a:pPr>
            <a:r>
              <a:rPr sz="2400" b="1">
                <a:solidFill>
                  <a:srgbClr val="2E9E4F"/>
                </a:solidFill>
                <a:latin typeface="Georgia"/>
              </a:rPr>
              <a:t>99.90%</a:t>
            </a:r>
          </a:p>
        </p:txBody>
      </p:sp>
      <p:sp>
        <p:nvSpPr>
          <p:cNvPr id="21" name="Rounded Rectangle 20"/>
          <p:cNvSpPr/>
          <p:nvPr/>
        </p:nvSpPr>
        <p:spPr>
          <a:xfrm>
            <a:off x="8211312" y="1609344"/>
            <a:ext cx="3529584" cy="2286000"/>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11312" y="1609344"/>
            <a:ext cx="3529584"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67344" y="1847088"/>
            <a:ext cx="3017520" cy="365760"/>
          </a:xfrm>
          <a:prstGeom prst="rect">
            <a:avLst/>
          </a:prstGeom>
          <a:noFill/>
        </p:spPr>
        <p:txBody>
          <a:bodyPr wrap="square" anchor="t" lIns="0" rIns="0" tIns="0" bIns="0">
            <a:spAutoFit/>
          </a:bodyPr>
          <a:lstStyle/>
          <a:p>
            <a:pPr algn="l">
              <a:lnSpc>
                <a:spcPct val="106000"/>
              </a:lnSpc>
            </a:pPr>
            <a:r>
              <a:rPr sz="1600" b="1">
                <a:solidFill>
                  <a:srgbClr val="0D3B1F"/>
                </a:solidFill>
                <a:latin typeface="Georgia"/>
              </a:rPr>
              <a:t>EfficientNet-B0</a:t>
            </a:r>
          </a:p>
        </p:txBody>
      </p:sp>
      <p:sp>
        <p:nvSpPr>
          <p:cNvPr id="24" name="TextBox 23"/>
          <p:cNvSpPr txBox="1"/>
          <p:nvPr/>
        </p:nvSpPr>
        <p:spPr>
          <a:xfrm>
            <a:off x="8467344" y="2231136"/>
            <a:ext cx="3017520" cy="274320"/>
          </a:xfrm>
          <a:prstGeom prst="rect">
            <a:avLst/>
          </a:prstGeom>
          <a:noFill/>
        </p:spPr>
        <p:txBody>
          <a:bodyPr wrap="square" anchor="t" lIns="0" rIns="0" tIns="0" bIns="0">
            <a:spAutoFit/>
          </a:bodyPr>
          <a:lstStyle/>
          <a:p>
            <a:pPr algn="l">
              <a:lnSpc>
                <a:spcPct val="106000"/>
              </a:lnSpc>
            </a:pPr>
            <a:r>
              <a:rPr sz="1000" b="1">
                <a:solidFill>
                  <a:srgbClr val="2E9E4F"/>
                </a:solidFill>
                <a:latin typeface="Calibri"/>
              </a:rPr>
              <a:t>TRANSFER LEARNING</a:t>
            </a:r>
          </a:p>
        </p:txBody>
      </p:sp>
      <p:sp>
        <p:nvSpPr>
          <p:cNvPr id="25" name="TextBox 24"/>
          <p:cNvSpPr txBox="1"/>
          <p:nvPr/>
        </p:nvSpPr>
        <p:spPr>
          <a:xfrm>
            <a:off x="8467344" y="2578608"/>
            <a:ext cx="3017520" cy="91440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A balanced accuracy/size architecture, also fine-tuned. The strongest single model in our cross-source test.</a:t>
            </a:r>
          </a:p>
        </p:txBody>
      </p:sp>
      <p:sp>
        <p:nvSpPr>
          <p:cNvPr id="26" name="TextBox 25"/>
          <p:cNvSpPr txBox="1"/>
          <p:nvPr/>
        </p:nvSpPr>
        <p:spPr>
          <a:xfrm>
            <a:off x="8467344" y="3493008"/>
            <a:ext cx="3017520" cy="365760"/>
          </a:xfrm>
          <a:prstGeom prst="rect">
            <a:avLst/>
          </a:prstGeom>
          <a:noFill/>
        </p:spPr>
        <p:txBody>
          <a:bodyPr wrap="square" anchor="t" lIns="0" rIns="0" tIns="0" bIns="0">
            <a:spAutoFit/>
          </a:bodyPr>
          <a:lstStyle/>
          <a:p>
            <a:pPr algn="l">
              <a:lnSpc>
                <a:spcPct val="106000"/>
              </a:lnSpc>
            </a:pPr>
            <a:r>
              <a:rPr sz="2400" b="1">
                <a:solidFill>
                  <a:srgbClr val="2E9E4F"/>
                </a:solidFill>
                <a:latin typeface="Georgia"/>
              </a:rPr>
              <a:t>99.90%</a:t>
            </a:r>
          </a:p>
        </p:txBody>
      </p:sp>
      <p:sp>
        <p:nvSpPr>
          <p:cNvPr id="27" name="Rounded Rectangle 26"/>
          <p:cNvSpPr/>
          <p:nvPr/>
        </p:nvSpPr>
        <p:spPr>
          <a:xfrm>
            <a:off x="658368" y="4133087"/>
            <a:ext cx="5394960" cy="1810512"/>
          </a:xfrm>
          <a:prstGeom prst="roundRect">
            <a:avLst>
              <a:gd name="adj" fmla="val 8000"/>
            </a:avLst>
          </a:prstGeom>
          <a:solidFill>
            <a:srgbClr val="0D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4352544"/>
            <a:ext cx="4846320" cy="365760"/>
          </a:xfrm>
          <a:prstGeom prst="rect">
            <a:avLst/>
          </a:prstGeom>
          <a:noFill/>
        </p:spPr>
        <p:txBody>
          <a:bodyPr wrap="square" anchor="t" lIns="0" rIns="0" tIns="0" bIns="0">
            <a:spAutoFit/>
          </a:bodyPr>
          <a:lstStyle/>
          <a:p>
            <a:pPr algn="l">
              <a:lnSpc>
                <a:spcPct val="106000"/>
              </a:lnSpc>
            </a:pPr>
            <a:r>
              <a:rPr sz="1700" b="1">
                <a:solidFill>
                  <a:srgbClr val="FFFFFF"/>
                </a:solidFill>
                <a:latin typeface="Georgia"/>
              </a:rPr>
              <a:t>Soft-vote ensemble</a:t>
            </a:r>
          </a:p>
        </p:txBody>
      </p:sp>
      <p:sp>
        <p:nvSpPr>
          <p:cNvPr id="29" name="TextBox 28"/>
          <p:cNvSpPr txBox="1"/>
          <p:nvPr/>
        </p:nvSpPr>
        <p:spPr>
          <a:xfrm>
            <a:off x="960120" y="4754880"/>
            <a:ext cx="4846320" cy="1005840"/>
          </a:xfrm>
          <a:prstGeom prst="rect">
            <a:avLst/>
          </a:prstGeom>
          <a:noFill/>
        </p:spPr>
        <p:txBody>
          <a:bodyPr wrap="square" anchor="t" lIns="0" rIns="0" tIns="0" bIns="0">
            <a:spAutoFit/>
          </a:bodyPr>
          <a:lstStyle/>
          <a:p>
            <a:pPr algn="l">
              <a:lnSpc>
                <a:spcPct val="125000"/>
              </a:lnSpc>
            </a:pPr>
            <a:r>
              <a:rPr sz="1300" b="0">
                <a:solidFill>
                  <a:srgbClr val="C9E6D1"/>
                </a:solidFill>
                <a:latin typeface="Calibri"/>
              </a:rPr>
              <a:t>Instead of trusting one network, we average the class probabilities from all three and take the majority view. The ensemble is what the app serves by default.</a:t>
            </a:r>
          </a:p>
        </p:txBody>
      </p:sp>
      <p:sp>
        <p:nvSpPr>
          <p:cNvPr id="30" name="Rounded Rectangle 29"/>
          <p:cNvSpPr/>
          <p:nvPr/>
        </p:nvSpPr>
        <p:spPr>
          <a:xfrm>
            <a:off x="6309360" y="4133087"/>
            <a:ext cx="5230368" cy="1810512"/>
          </a:xfrm>
          <a:prstGeom prst="roundRect">
            <a:avLst>
              <a:gd name="adj" fmla="val 8000"/>
            </a:avLst>
          </a:prstGeom>
          <a:solidFill>
            <a:srgbClr val="F7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1968" y="4352544"/>
            <a:ext cx="4663440" cy="365760"/>
          </a:xfrm>
          <a:prstGeom prst="rect">
            <a:avLst/>
          </a:prstGeom>
          <a:noFill/>
        </p:spPr>
        <p:txBody>
          <a:bodyPr wrap="square" anchor="t" lIns="0" rIns="0" tIns="0" bIns="0">
            <a:spAutoFit/>
          </a:bodyPr>
          <a:lstStyle/>
          <a:p>
            <a:pPr algn="l">
              <a:lnSpc>
                <a:spcPct val="106000"/>
              </a:lnSpc>
            </a:pPr>
            <a:r>
              <a:rPr sz="1700" b="1">
                <a:solidFill>
                  <a:srgbClr val="0D3B1F"/>
                </a:solidFill>
                <a:latin typeface="Georgia"/>
              </a:rPr>
              <a:t>Grad-CAM explanation</a:t>
            </a:r>
          </a:p>
        </p:txBody>
      </p:sp>
      <p:sp>
        <p:nvSpPr>
          <p:cNvPr id="32" name="TextBox 31"/>
          <p:cNvSpPr txBox="1"/>
          <p:nvPr/>
        </p:nvSpPr>
        <p:spPr>
          <a:xfrm>
            <a:off x="6601968" y="4754880"/>
            <a:ext cx="4663440" cy="1005840"/>
          </a:xfrm>
          <a:prstGeom prst="rect">
            <a:avLst/>
          </a:prstGeom>
          <a:noFill/>
        </p:spPr>
        <p:txBody>
          <a:bodyPr wrap="square" anchor="t" lIns="0" rIns="0" tIns="0" bIns="0">
            <a:spAutoFit/>
          </a:bodyPr>
          <a:lstStyle/>
          <a:p>
            <a:pPr algn="l">
              <a:lnSpc>
                <a:spcPct val="125000"/>
              </a:lnSpc>
            </a:pPr>
            <a:r>
              <a:rPr sz="1300" b="0">
                <a:solidFill>
                  <a:srgbClr val="3A5143"/>
                </a:solidFill>
                <a:latin typeface="Calibri"/>
              </a:rPr>
              <a:t>We take gradients from the final convolutional layer and build a heatmap over the image, so the app can show the farmer which patches drove the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07 · RESULTS</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The honest gap</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08</a:t>
            </a:r>
          </a:p>
        </p:txBody>
      </p:sp>
      <p:sp>
        <p:nvSpPr>
          <p:cNvPr id="9" name="Rectangle 8"/>
          <p:cNvSpPr/>
          <p:nvPr/>
        </p:nvSpPr>
        <p:spPr>
          <a:xfrm>
            <a:off x="512063" y="1801826"/>
            <a:ext cx="7936992" cy="3802986"/>
          </a:xfrm>
          <a:prstGeom prst="rect">
            <a:avLst/>
          </a:prstGeom>
          <a:solidFill>
            <a:srgbClr val="FFFFFF"/>
          </a:solidFill>
          <a:ln w="1524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domain_gap.png"/>
          <p:cNvPicPr>
            <a:picLocks noChangeAspect="1"/>
          </p:cNvPicPr>
          <p:nvPr/>
        </p:nvPicPr>
        <p:blipFill>
          <a:blip r:embed="rId2"/>
          <a:stretch>
            <a:fillRect/>
          </a:stretch>
        </p:blipFill>
        <p:spPr>
          <a:xfrm>
            <a:off x="548640" y="1838402"/>
            <a:ext cx="7863840" cy="3729834"/>
          </a:xfrm>
          <a:prstGeom prst="rect">
            <a:avLst/>
          </a:prstGeom>
        </p:spPr>
      </p:pic>
      <p:sp>
        <p:nvSpPr>
          <p:cNvPr id="11" name="Rounded Rectangle 10"/>
          <p:cNvSpPr/>
          <p:nvPr/>
        </p:nvSpPr>
        <p:spPr>
          <a:xfrm>
            <a:off x="8641080" y="1554480"/>
            <a:ext cx="2926080" cy="1371600"/>
          </a:xfrm>
          <a:prstGeom prst="roundRect">
            <a:avLst>
              <a:gd name="adj" fmla="val 10000"/>
            </a:avLst>
          </a:prstGeom>
          <a:solidFill>
            <a:srgbClr val="0D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1737360"/>
            <a:ext cx="2651760" cy="548640"/>
          </a:xfrm>
          <a:prstGeom prst="rect">
            <a:avLst/>
          </a:prstGeom>
          <a:noFill/>
        </p:spPr>
        <p:txBody>
          <a:bodyPr wrap="square" anchor="t" lIns="0" rIns="0" tIns="0" bIns="0">
            <a:spAutoFit/>
          </a:bodyPr>
          <a:lstStyle/>
          <a:p>
            <a:pPr algn="ctr">
              <a:lnSpc>
                <a:spcPct val="106000"/>
              </a:lnSpc>
            </a:pPr>
            <a:r>
              <a:rPr sz="3200" b="1">
                <a:solidFill>
                  <a:srgbClr val="FFFFFF"/>
                </a:solidFill>
                <a:latin typeface="Georgia"/>
              </a:rPr>
              <a:t>99.9%</a:t>
            </a:r>
          </a:p>
        </p:txBody>
      </p:sp>
      <p:sp>
        <p:nvSpPr>
          <p:cNvPr id="13" name="TextBox 12"/>
          <p:cNvSpPr txBox="1"/>
          <p:nvPr/>
        </p:nvSpPr>
        <p:spPr>
          <a:xfrm>
            <a:off x="8778240" y="2340864"/>
            <a:ext cx="2651760" cy="457200"/>
          </a:xfrm>
          <a:prstGeom prst="rect">
            <a:avLst/>
          </a:prstGeom>
          <a:noFill/>
        </p:spPr>
        <p:txBody>
          <a:bodyPr wrap="square" anchor="t" lIns="0" rIns="0" tIns="0" bIns="0">
            <a:spAutoFit/>
          </a:bodyPr>
          <a:lstStyle/>
          <a:p>
            <a:pPr algn="ctr">
              <a:lnSpc>
                <a:spcPct val="106000"/>
              </a:lnSpc>
            </a:pPr>
            <a:r>
              <a:rPr sz="1150" b="0">
                <a:solidFill>
                  <a:srgbClr val="A8D3B4"/>
                </a:solidFill>
                <a:latin typeface="Calibri"/>
              </a:rPr>
              <a:t>in-distribution
held-out test</a:t>
            </a:r>
          </a:p>
        </p:txBody>
      </p:sp>
      <p:sp>
        <p:nvSpPr>
          <p:cNvPr id="14" name="Rounded Rectangle 13"/>
          <p:cNvSpPr/>
          <p:nvPr/>
        </p:nvSpPr>
        <p:spPr>
          <a:xfrm>
            <a:off x="8641080" y="3072384"/>
            <a:ext cx="2926080" cy="1371600"/>
          </a:xfrm>
          <a:prstGeom prst="roundRect">
            <a:avLst>
              <a:gd name="adj" fmla="val 10000"/>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3255264"/>
            <a:ext cx="2651760" cy="548640"/>
          </a:xfrm>
          <a:prstGeom prst="rect">
            <a:avLst/>
          </a:prstGeom>
          <a:noFill/>
        </p:spPr>
        <p:txBody>
          <a:bodyPr wrap="square" anchor="t" lIns="0" rIns="0" tIns="0" bIns="0">
            <a:spAutoFit/>
          </a:bodyPr>
          <a:lstStyle/>
          <a:p>
            <a:pPr algn="ctr">
              <a:lnSpc>
                <a:spcPct val="106000"/>
              </a:lnSpc>
            </a:pPr>
            <a:r>
              <a:rPr sz="3200" b="1">
                <a:solidFill>
                  <a:srgbClr val="FFFFFF"/>
                </a:solidFill>
                <a:latin typeface="Georgia"/>
              </a:rPr>
              <a:t>46.5%</a:t>
            </a:r>
          </a:p>
        </p:txBody>
      </p:sp>
      <p:sp>
        <p:nvSpPr>
          <p:cNvPr id="16" name="TextBox 15"/>
          <p:cNvSpPr txBox="1"/>
          <p:nvPr/>
        </p:nvSpPr>
        <p:spPr>
          <a:xfrm>
            <a:off x="8778240" y="3858768"/>
            <a:ext cx="2651760" cy="457200"/>
          </a:xfrm>
          <a:prstGeom prst="rect">
            <a:avLst/>
          </a:prstGeom>
          <a:noFill/>
        </p:spPr>
        <p:txBody>
          <a:bodyPr wrap="square" anchor="t" lIns="0" rIns="0" tIns="0" bIns="0">
            <a:spAutoFit/>
          </a:bodyPr>
          <a:lstStyle/>
          <a:p>
            <a:pPr algn="ctr">
              <a:lnSpc>
                <a:spcPct val="106000"/>
              </a:lnSpc>
            </a:pPr>
            <a:r>
              <a:rPr sz="1150" b="0">
                <a:solidFill>
                  <a:srgbClr val="FFE9D4"/>
                </a:solidFill>
                <a:latin typeface="Calibri"/>
              </a:rPr>
              <a:t>cross-source
PlantDoc test</a:t>
            </a:r>
          </a:p>
        </p:txBody>
      </p:sp>
      <p:sp>
        <p:nvSpPr>
          <p:cNvPr id="17" name="Rounded Rectangle 16"/>
          <p:cNvSpPr/>
          <p:nvPr/>
        </p:nvSpPr>
        <p:spPr>
          <a:xfrm>
            <a:off x="8641080" y="4590288"/>
            <a:ext cx="2926080" cy="137160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4754880"/>
            <a:ext cx="2615184" cy="1097280"/>
          </a:xfrm>
          <a:prstGeom prst="rect">
            <a:avLst/>
          </a:prstGeom>
          <a:noFill/>
        </p:spPr>
        <p:txBody>
          <a:bodyPr wrap="square" anchor="t" lIns="0" rIns="0" tIns="0" bIns="0">
            <a:spAutoFit/>
          </a:bodyPr>
          <a:lstStyle/>
          <a:p>
            <a:pPr algn="ctr">
              <a:lnSpc>
                <a:spcPct val="120000"/>
              </a:lnSpc>
            </a:pPr>
            <a:r>
              <a:rPr sz="1300" b="1">
                <a:solidFill>
                  <a:srgbClr val="0D3B1F"/>
                </a:solidFill>
                <a:latin typeface="Calibri"/>
              </a:rPr>
              <a:t>Same models, same weights — only the photo source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08 · ANALYSIS</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Where the model still fails</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09</a:t>
            </a:r>
          </a:p>
        </p:txBody>
      </p:sp>
      <p:sp>
        <p:nvSpPr>
          <p:cNvPr id="9" name="Rectangle 8"/>
          <p:cNvSpPr/>
          <p:nvPr/>
        </p:nvSpPr>
        <p:spPr>
          <a:xfrm>
            <a:off x="512063" y="1545951"/>
            <a:ext cx="7571231" cy="4314736"/>
          </a:xfrm>
          <a:prstGeom prst="rect">
            <a:avLst/>
          </a:prstGeom>
          <a:solidFill>
            <a:srgbClr val="FFFFFF"/>
          </a:solidFill>
          <a:ln w="1524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recall.png"/>
          <p:cNvPicPr>
            <a:picLocks noChangeAspect="1"/>
          </p:cNvPicPr>
          <p:nvPr/>
        </p:nvPicPr>
        <p:blipFill>
          <a:blip r:embed="rId2"/>
          <a:stretch>
            <a:fillRect/>
          </a:stretch>
        </p:blipFill>
        <p:spPr>
          <a:xfrm>
            <a:off x="548640" y="1582527"/>
            <a:ext cx="7498079" cy="4241584"/>
          </a:xfrm>
          <a:prstGeom prst="rect">
            <a:avLst/>
          </a:prstGeom>
        </p:spPr>
      </p:pic>
      <p:sp>
        <p:nvSpPr>
          <p:cNvPr id="11" name="Rounded Rectangle 10"/>
          <p:cNvSpPr/>
          <p:nvPr/>
        </p:nvSpPr>
        <p:spPr>
          <a:xfrm>
            <a:off x="8321040" y="1554480"/>
            <a:ext cx="3246120" cy="2103120"/>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1792224"/>
            <a:ext cx="2743200" cy="365760"/>
          </a:xfrm>
          <a:prstGeom prst="rect">
            <a:avLst/>
          </a:prstGeom>
          <a:noFill/>
        </p:spPr>
        <p:txBody>
          <a:bodyPr wrap="square" anchor="t" lIns="0" rIns="0" tIns="0" bIns="0">
            <a:spAutoFit/>
          </a:bodyPr>
          <a:lstStyle/>
          <a:p>
            <a:pPr algn="l">
              <a:lnSpc>
                <a:spcPct val="106000"/>
              </a:lnSpc>
            </a:pPr>
            <a:r>
              <a:rPr sz="1500" b="1">
                <a:solidFill>
                  <a:srgbClr val="0D3B1F"/>
                </a:solidFill>
                <a:latin typeface="Georgia"/>
              </a:rPr>
              <a:t>The main confusion</a:t>
            </a:r>
          </a:p>
        </p:txBody>
      </p:sp>
      <p:sp>
        <p:nvSpPr>
          <p:cNvPr id="13" name="TextBox 12"/>
          <p:cNvSpPr txBox="1"/>
          <p:nvPr/>
        </p:nvSpPr>
        <p:spPr>
          <a:xfrm>
            <a:off x="8595360" y="2231136"/>
            <a:ext cx="2743200" cy="1280160"/>
          </a:xfrm>
          <a:prstGeom prst="rect">
            <a:avLst/>
          </a:prstGeom>
          <a:noFill/>
        </p:spPr>
        <p:txBody>
          <a:bodyPr wrap="square" anchor="t" lIns="0" rIns="0" tIns="0" bIns="0">
            <a:spAutoFit/>
          </a:bodyPr>
          <a:lstStyle/>
          <a:p>
            <a:pPr algn="l">
              <a:lnSpc>
                <a:spcPct val="122000"/>
              </a:lnSpc>
            </a:pPr>
            <a:r>
              <a:rPr sz="1250" b="0">
                <a:solidFill>
                  <a:srgbClr val="3A5143"/>
                </a:solidFill>
                <a:latin typeface="Calibri"/>
              </a:rPr>
              <a:t>25 of 40 Early Blight images were called Late Blight. The two diseases share the same visual pattern — dark concentric rings — and the model learns the easier one first.</a:t>
            </a:r>
          </a:p>
        </p:txBody>
      </p:sp>
      <p:sp>
        <p:nvSpPr>
          <p:cNvPr id="14" name="Rounded Rectangle 13"/>
          <p:cNvSpPr/>
          <p:nvPr/>
        </p:nvSpPr>
        <p:spPr>
          <a:xfrm>
            <a:off x="8321040" y="3803904"/>
            <a:ext cx="3246120" cy="2139696"/>
          </a:xfrm>
          <a:prstGeom prst="roundRect">
            <a:avLst>
              <a:gd name="adj" fmla="val 7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4041648"/>
            <a:ext cx="2743200" cy="365760"/>
          </a:xfrm>
          <a:prstGeom prst="rect">
            <a:avLst/>
          </a:prstGeom>
          <a:noFill/>
        </p:spPr>
        <p:txBody>
          <a:bodyPr wrap="square" anchor="t" lIns="0" rIns="0" tIns="0" bIns="0">
            <a:spAutoFit/>
          </a:bodyPr>
          <a:lstStyle/>
          <a:p>
            <a:pPr algn="l">
              <a:lnSpc>
                <a:spcPct val="106000"/>
              </a:lnSpc>
            </a:pPr>
            <a:r>
              <a:rPr sz="1500" b="1">
                <a:solidFill>
                  <a:srgbClr val="0D3B1F"/>
                </a:solidFill>
                <a:latin typeface="Georgia"/>
              </a:rPr>
              <a:t>What would fix it</a:t>
            </a:r>
          </a:p>
        </p:txBody>
      </p:sp>
      <p:sp>
        <p:nvSpPr>
          <p:cNvPr id="16" name="Rounded Rectangle 15"/>
          <p:cNvSpPr/>
          <p:nvPr/>
        </p:nvSpPr>
        <p:spPr>
          <a:xfrm>
            <a:off x="8613648" y="4535424"/>
            <a:ext cx="118872" cy="118872"/>
          </a:xfrm>
          <a:prstGeom prst="roundRect">
            <a:avLst>
              <a:gd name="adj" fmla="val 5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33104" y="4480560"/>
            <a:ext cx="2468880" cy="365760"/>
          </a:xfrm>
          <a:prstGeom prst="rect">
            <a:avLst/>
          </a:prstGeom>
          <a:noFill/>
        </p:spPr>
        <p:txBody>
          <a:bodyPr wrap="square" anchor="t" lIns="0" rIns="0" tIns="0" bIns="0">
            <a:spAutoFit/>
          </a:bodyPr>
          <a:lstStyle/>
          <a:p>
            <a:pPr algn="l">
              <a:lnSpc>
                <a:spcPct val="115000"/>
              </a:lnSpc>
            </a:pPr>
            <a:r>
              <a:rPr sz="1150" b="0">
                <a:solidFill>
                  <a:srgbClr val="3A5143"/>
                </a:solidFill>
                <a:latin typeface="Calibri"/>
              </a:rPr>
              <a:t>More Early Blight field photos, not lab images</a:t>
            </a:r>
          </a:p>
        </p:txBody>
      </p:sp>
      <p:sp>
        <p:nvSpPr>
          <p:cNvPr id="18" name="Rounded Rectangle 17"/>
          <p:cNvSpPr/>
          <p:nvPr/>
        </p:nvSpPr>
        <p:spPr>
          <a:xfrm>
            <a:off x="8613648" y="4901184"/>
            <a:ext cx="118872" cy="118872"/>
          </a:xfrm>
          <a:prstGeom prst="roundRect">
            <a:avLst>
              <a:gd name="adj" fmla="val 5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33104" y="4846320"/>
            <a:ext cx="2468880" cy="365760"/>
          </a:xfrm>
          <a:prstGeom prst="rect">
            <a:avLst/>
          </a:prstGeom>
          <a:noFill/>
        </p:spPr>
        <p:txBody>
          <a:bodyPr wrap="square" anchor="t" lIns="0" rIns="0" tIns="0" bIns="0">
            <a:spAutoFit/>
          </a:bodyPr>
          <a:lstStyle/>
          <a:p>
            <a:pPr algn="l">
              <a:lnSpc>
                <a:spcPct val="115000"/>
              </a:lnSpc>
            </a:pPr>
            <a:r>
              <a:rPr sz="1150" b="0">
                <a:solidFill>
                  <a:srgbClr val="3A5143"/>
                </a:solidFill>
                <a:latin typeface="Calibri"/>
              </a:rPr>
              <a:t>Augmentation tuned to ring texture</a:t>
            </a:r>
          </a:p>
        </p:txBody>
      </p:sp>
      <p:sp>
        <p:nvSpPr>
          <p:cNvPr id="20" name="Rounded Rectangle 19"/>
          <p:cNvSpPr/>
          <p:nvPr/>
        </p:nvSpPr>
        <p:spPr>
          <a:xfrm>
            <a:off x="8613648" y="5266944"/>
            <a:ext cx="118872" cy="118872"/>
          </a:xfrm>
          <a:prstGeom prst="roundRect">
            <a:avLst>
              <a:gd name="adj" fmla="val 5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33104" y="5212080"/>
            <a:ext cx="2468880" cy="365760"/>
          </a:xfrm>
          <a:prstGeom prst="rect">
            <a:avLst/>
          </a:prstGeom>
          <a:noFill/>
        </p:spPr>
        <p:txBody>
          <a:bodyPr wrap="square" anchor="t" lIns="0" rIns="0" tIns="0" bIns="0">
            <a:spAutoFit/>
          </a:bodyPr>
          <a:lstStyle/>
          <a:p>
            <a:pPr algn="l">
              <a:lnSpc>
                <a:spcPct val="115000"/>
              </a:lnSpc>
            </a:pPr>
            <a:r>
              <a:rPr sz="1150" b="0">
                <a:solidFill>
                  <a:srgbClr val="3A5143"/>
                </a:solidFill>
                <a:latin typeface="Calibri"/>
              </a:rPr>
              <a:t>Class-balanced loss during training</a:t>
            </a:r>
          </a:p>
        </p:txBody>
      </p:sp>
      <p:sp>
        <p:nvSpPr>
          <p:cNvPr id="22" name="Rounded Rectangle 21"/>
          <p:cNvSpPr/>
          <p:nvPr/>
        </p:nvSpPr>
        <p:spPr>
          <a:xfrm>
            <a:off x="8613648" y="5632704"/>
            <a:ext cx="118872" cy="118872"/>
          </a:xfrm>
          <a:prstGeom prst="roundRect">
            <a:avLst>
              <a:gd name="adj" fmla="val 50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33104" y="5577840"/>
            <a:ext cx="2468880" cy="365760"/>
          </a:xfrm>
          <a:prstGeom prst="rect">
            <a:avLst/>
          </a:prstGeom>
          <a:noFill/>
        </p:spPr>
        <p:txBody>
          <a:bodyPr wrap="square" anchor="t" lIns="0" rIns="0" tIns="0" bIns="0">
            <a:spAutoFit/>
          </a:bodyPr>
          <a:lstStyle/>
          <a:p>
            <a:pPr algn="l">
              <a:lnSpc>
                <a:spcPct val="115000"/>
              </a:lnSpc>
            </a:pPr>
            <a:r>
              <a:rPr sz="1150" b="0">
                <a:solidFill>
                  <a:srgbClr val="3A5143"/>
                </a:solidFill>
                <a:latin typeface="Calibri"/>
              </a:rPr>
              <a:t>Switch the default model to EfficientNet-B0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09 · LIMITATIONS</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What we are not claiming</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10</a:t>
            </a:r>
          </a:p>
        </p:txBody>
      </p:sp>
      <p:sp>
        <p:nvSpPr>
          <p:cNvPr id="9" name="Rounded Rectangle 8"/>
          <p:cNvSpPr/>
          <p:nvPr/>
        </p:nvSpPr>
        <p:spPr>
          <a:xfrm>
            <a:off x="658368" y="1627632"/>
            <a:ext cx="5330952" cy="151790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627632"/>
            <a:ext cx="50292" cy="151790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28800"/>
            <a:ext cx="4846320" cy="365760"/>
          </a:xfrm>
          <a:prstGeom prst="rect">
            <a:avLst/>
          </a:prstGeom>
          <a:noFill/>
        </p:spPr>
        <p:txBody>
          <a:bodyPr wrap="square" anchor="t" lIns="0" rIns="0" tIns="0" bIns="0">
            <a:spAutoFit/>
          </a:bodyPr>
          <a:lstStyle/>
          <a:p>
            <a:pPr algn="l">
              <a:lnSpc>
                <a:spcPct val="106000"/>
              </a:lnSpc>
            </a:pPr>
            <a:r>
              <a:rPr sz="1550" b="1">
                <a:solidFill>
                  <a:srgbClr val="0D3B1F"/>
                </a:solidFill>
                <a:latin typeface="Georgia"/>
              </a:rPr>
              <a:t>No Healthy class</a:t>
            </a:r>
          </a:p>
        </p:txBody>
      </p:sp>
      <p:sp>
        <p:nvSpPr>
          <p:cNvPr id="12" name="TextBox 11"/>
          <p:cNvSpPr txBox="1"/>
          <p:nvPr/>
        </p:nvSpPr>
        <p:spPr>
          <a:xfrm>
            <a:off x="932688" y="2231136"/>
            <a:ext cx="4846320" cy="82296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PlantDoc has no valid healthy-potato annotations, so our hardest test cannot measure the Healthy class at all. We can only report on the three classes it contains.</a:t>
            </a:r>
          </a:p>
        </p:txBody>
      </p:sp>
      <p:sp>
        <p:nvSpPr>
          <p:cNvPr id="13" name="Rounded Rectangle 12"/>
          <p:cNvSpPr/>
          <p:nvPr/>
        </p:nvSpPr>
        <p:spPr>
          <a:xfrm>
            <a:off x="6236207" y="1627632"/>
            <a:ext cx="5330952" cy="151790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6207" y="1627632"/>
            <a:ext cx="50292" cy="1517904"/>
          </a:xfrm>
          <a:prstGeom prst="rect">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7" y="1828800"/>
            <a:ext cx="4846320" cy="365760"/>
          </a:xfrm>
          <a:prstGeom prst="rect">
            <a:avLst/>
          </a:prstGeom>
          <a:noFill/>
        </p:spPr>
        <p:txBody>
          <a:bodyPr wrap="square" anchor="t" lIns="0" rIns="0" tIns="0" bIns="0">
            <a:spAutoFit/>
          </a:bodyPr>
          <a:lstStyle/>
          <a:p>
            <a:pPr algn="l">
              <a:lnSpc>
                <a:spcPct val="106000"/>
              </a:lnSpc>
            </a:pPr>
            <a:r>
              <a:rPr sz="1550" b="1">
                <a:solidFill>
                  <a:srgbClr val="0D3B1F"/>
                </a:solidFill>
                <a:latin typeface="Georgia"/>
              </a:rPr>
              <a:t>Open-set leak</a:t>
            </a:r>
          </a:p>
        </p:txBody>
      </p:sp>
      <p:sp>
        <p:nvSpPr>
          <p:cNvPr id="16" name="TextBox 15"/>
          <p:cNvSpPr txBox="1"/>
          <p:nvPr/>
        </p:nvSpPr>
        <p:spPr>
          <a:xfrm>
            <a:off x="6510527" y="2231136"/>
            <a:ext cx="4846320" cy="82296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18 of 34 Non-Leaf images — 52.9 percent — still received a disease label instead of Unknown. The rejection layer is a start, not a solved problem.</a:t>
            </a:r>
          </a:p>
        </p:txBody>
      </p:sp>
      <p:sp>
        <p:nvSpPr>
          <p:cNvPr id="17" name="Rounded Rectangle 16"/>
          <p:cNvSpPr/>
          <p:nvPr/>
        </p:nvSpPr>
        <p:spPr>
          <a:xfrm>
            <a:off x="658368" y="3328416"/>
            <a:ext cx="5330952" cy="151790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328416"/>
            <a:ext cx="50292" cy="1517904"/>
          </a:xfrm>
          <a:prstGeom prst="rect">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529584"/>
            <a:ext cx="4846320" cy="365760"/>
          </a:xfrm>
          <a:prstGeom prst="rect">
            <a:avLst/>
          </a:prstGeom>
          <a:noFill/>
        </p:spPr>
        <p:txBody>
          <a:bodyPr wrap="square" anchor="t" lIns="0" rIns="0" tIns="0" bIns="0">
            <a:spAutoFit/>
          </a:bodyPr>
          <a:lstStyle/>
          <a:p>
            <a:pPr algn="l">
              <a:lnSpc>
                <a:spcPct val="106000"/>
              </a:lnSpc>
            </a:pPr>
            <a:r>
              <a:rPr sz="1550" b="1">
                <a:solidFill>
                  <a:srgbClr val="0D3B1F"/>
                </a:solidFill>
                <a:latin typeface="Georgia"/>
              </a:rPr>
              <a:t>Macro F1 is low</a:t>
            </a:r>
          </a:p>
        </p:txBody>
      </p:sp>
      <p:sp>
        <p:nvSpPr>
          <p:cNvPr id="20" name="TextBox 19"/>
          <p:cNvSpPr txBox="1"/>
          <p:nvPr/>
        </p:nvSpPr>
        <p:spPr>
          <a:xfrm>
            <a:off x="932688" y="3931920"/>
            <a:ext cx="4846320" cy="82296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0.330 on the cross-source test. A high overall accuracy number would hide this, which is why we report F1 alongside it.</a:t>
            </a:r>
          </a:p>
        </p:txBody>
      </p:sp>
      <p:sp>
        <p:nvSpPr>
          <p:cNvPr id="21" name="Rounded Rectangle 20"/>
          <p:cNvSpPr/>
          <p:nvPr/>
        </p:nvSpPr>
        <p:spPr>
          <a:xfrm>
            <a:off x="6236207" y="3328416"/>
            <a:ext cx="5330952" cy="1517904"/>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7" y="3328416"/>
            <a:ext cx="50292" cy="151790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7" y="3529584"/>
            <a:ext cx="4846320" cy="365760"/>
          </a:xfrm>
          <a:prstGeom prst="rect">
            <a:avLst/>
          </a:prstGeom>
          <a:noFill/>
        </p:spPr>
        <p:txBody>
          <a:bodyPr wrap="square" anchor="t" lIns="0" rIns="0" tIns="0" bIns="0">
            <a:spAutoFit/>
          </a:bodyPr>
          <a:lstStyle/>
          <a:p>
            <a:pPr algn="l">
              <a:lnSpc>
                <a:spcPct val="106000"/>
              </a:lnSpc>
            </a:pPr>
            <a:r>
              <a:rPr sz="1550" b="1">
                <a:solidFill>
                  <a:srgbClr val="0D3B1F"/>
                </a:solidFill>
                <a:latin typeface="Georgia"/>
              </a:rPr>
              <a:t>Domain shift</a:t>
            </a:r>
          </a:p>
        </p:txBody>
      </p:sp>
      <p:sp>
        <p:nvSpPr>
          <p:cNvPr id="24" name="TextBox 23"/>
          <p:cNvSpPr txBox="1"/>
          <p:nvPr/>
        </p:nvSpPr>
        <p:spPr>
          <a:xfrm>
            <a:off x="6510527" y="3931920"/>
            <a:ext cx="4846320" cy="822960"/>
          </a:xfrm>
          <a:prstGeom prst="rect">
            <a:avLst/>
          </a:prstGeom>
          <a:noFill/>
        </p:spPr>
        <p:txBody>
          <a:bodyPr wrap="square" anchor="t" lIns="0" rIns="0" tIns="0" bIns="0">
            <a:spAutoFit/>
          </a:bodyPr>
          <a:lstStyle/>
          <a:p>
            <a:pPr algn="l">
              <a:lnSpc>
                <a:spcPct val="120000"/>
              </a:lnSpc>
            </a:pPr>
            <a:r>
              <a:rPr sz="1200" b="0">
                <a:solidFill>
                  <a:srgbClr val="3A5143"/>
                </a:solidFill>
                <a:latin typeface="Calibri"/>
              </a:rPr>
              <a:t>Accuracy depends heavily on camera, lighting and field. A model validated in a lab cannot be assumed to work in a farmer's hand.</a:t>
            </a:r>
          </a:p>
        </p:txBody>
      </p:sp>
      <p:sp>
        <p:nvSpPr>
          <p:cNvPr id="25" name="Rounded Rectangle 24"/>
          <p:cNvSpPr/>
          <p:nvPr/>
        </p:nvSpPr>
        <p:spPr>
          <a:xfrm>
            <a:off x="658368" y="5120640"/>
            <a:ext cx="10881360" cy="914400"/>
          </a:xfrm>
          <a:prstGeom prst="roundRect">
            <a:avLst>
              <a:gd name="adj" fmla="val 14000"/>
            </a:avLst>
          </a:prstGeom>
          <a:solidFill>
            <a:srgbClr val="0D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285232"/>
            <a:ext cx="10241280" cy="640080"/>
          </a:xfrm>
          <a:prstGeom prst="rect">
            <a:avLst/>
          </a:prstGeom>
          <a:noFill/>
        </p:spPr>
        <p:txBody>
          <a:bodyPr wrap="square" anchor="t" lIns="0" rIns="0" tIns="0" bIns="0">
            <a:spAutoFit/>
          </a:bodyPr>
          <a:lstStyle/>
          <a:p>
            <a:pPr algn="ctr">
              <a:lnSpc>
                <a:spcPct val="120000"/>
              </a:lnSpc>
            </a:pPr>
            <a:r>
              <a:rPr sz="1400" b="0">
                <a:solidFill>
                  <a:srgbClr val="E8F4EA"/>
                </a:solidFill>
                <a:latin typeface="Calibri"/>
              </a:rPr>
              <a:t>We report these numbers because a system that cannot say “I do not know” is not safe to put in a farmer's hands. These are known weaknesses, not surprises.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10 · APPLICATION</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The Android app</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11</a:t>
            </a:r>
          </a:p>
        </p:txBody>
      </p:sp>
      <p:sp>
        <p:nvSpPr>
          <p:cNvPr id="9" name="Rounded Rectangle 8"/>
          <p:cNvSpPr/>
          <p:nvPr/>
        </p:nvSpPr>
        <p:spPr>
          <a:xfrm>
            <a:off x="658368" y="1700784"/>
            <a:ext cx="3529584" cy="2011680"/>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00784"/>
            <a:ext cx="3529584"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975104"/>
            <a:ext cx="3017520" cy="365760"/>
          </a:xfrm>
          <a:prstGeom prst="rect">
            <a:avLst/>
          </a:prstGeom>
          <a:noFill/>
        </p:spPr>
        <p:txBody>
          <a:bodyPr wrap="square" anchor="t" lIns="0" rIns="0" tIns="0" bIns="0">
            <a:spAutoFit/>
          </a:bodyPr>
          <a:lstStyle/>
          <a:p>
            <a:pPr algn="l">
              <a:lnSpc>
                <a:spcPct val="106000"/>
              </a:lnSpc>
            </a:pPr>
            <a:r>
              <a:rPr sz="1600" b="1">
                <a:solidFill>
                  <a:srgbClr val="0D3B1F"/>
                </a:solidFill>
                <a:latin typeface="Georgia"/>
              </a:rPr>
              <a:t>Diagnose</a:t>
            </a:r>
          </a:p>
        </p:txBody>
      </p:sp>
      <p:sp>
        <p:nvSpPr>
          <p:cNvPr id="12" name="TextBox 11"/>
          <p:cNvSpPr txBox="1"/>
          <p:nvPr/>
        </p:nvSpPr>
        <p:spPr>
          <a:xfrm>
            <a:off x="914400" y="2432304"/>
            <a:ext cx="3017520" cy="1097280"/>
          </a:xfrm>
          <a:prstGeom prst="rect">
            <a:avLst/>
          </a:prstGeom>
          <a:noFill/>
        </p:spPr>
        <p:txBody>
          <a:bodyPr wrap="square" anchor="t" lIns="0" rIns="0" tIns="0" bIns="0">
            <a:spAutoFit/>
          </a:bodyPr>
          <a:lstStyle/>
          <a:p>
            <a:pPr algn="l">
              <a:lnSpc>
                <a:spcPct val="122000"/>
              </a:lnSpc>
            </a:pPr>
            <a:r>
              <a:rPr sz="1250" b="0">
                <a:solidFill>
                  <a:srgbClr val="3A5143"/>
                </a:solidFill>
                <a:latin typeface="Calibri"/>
              </a:rPr>
              <a:t>Camera or gallery photo, model selector, instant label and confidence.</a:t>
            </a:r>
          </a:p>
        </p:txBody>
      </p:sp>
      <p:sp>
        <p:nvSpPr>
          <p:cNvPr id="13" name="Rounded Rectangle 12"/>
          <p:cNvSpPr/>
          <p:nvPr/>
        </p:nvSpPr>
        <p:spPr>
          <a:xfrm>
            <a:off x="4434840" y="1700784"/>
            <a:ext cx="3529584" cy="2011680"/>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00784"/>
            <a:ext cx="3529584" cy="45720"/>
          </a:xfrm>
          <a:prstGeom prst="rect">
            <a:avLst/>
          </a:prstGeom>
          <a:solidFill>
            <a:srgbClr val="57B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90872" y="1975104"/>
            <a:ext cx="3017520" cy="365760"/>
          </a:xfrm>
          <a:prstGeom prst="rect">
            <a:avLst/>
          </a:prstGeom>
          <a:noFill/>
        </p:spPr>
        <p:txBody>
          <a:bodyPr wrap="square" anchor="t" lIns="0" rIns="0" tIns="0" bIns="0">
            <a:spAutoFit/>
          </a:bodyPr>
          <a:lstStyle/>
          <a:p>
            <a:pPr algn="l">
              <a:lnSpc>
                <a:spcPct val="106000"/>
              </a:lnSpc>
            </a:pPr>
            <a:r>
              <a:rPr sz="1600" b="1">
                <a:solidFill>
                  <a:srgbClr val="0D3B1F"/>
                </a:solidFill>
                <a:latin typeface="Georgia"/>
              </a:rPr>
              <a:t>Grad-CAM</a:t>
            </a:r>
          </a:p>
        </p:txBody>
      </p:sp>
      <p:sp>
        <p:nvSpPr>
          <p:cNvPr id="16" name="TextBox 15"/>
          <p:cNvSpPr txBox="1"/>
          <p:nvPr/>
        </p:nvSpPr>
        <p:spPr>
          <a:xfrm>
            <a:off x="4690872" y="2432304"/>
            <a:ext cx="3017520" cy="1097280"/>
          </a:xfrm>
          <a:prstGeom prst="rect">
            <a:avLst/>
          </a:prstGeom>
          <a:noFill/>
        </p:spPr>
        <p:txBody>
          <a:bodyPr wrap="square" anchor="t" lIns="0" rIns="0" tIns="0" bIns="0">
            <a:spAutoFit/>
          </a:bodyPr>
          <a:lstStyle/>
          <a:p>
            <a:pPr algn="l">
              <a:lnSpc>
                <a:spcPct val="122000"/>
              </a:lnSpc>
            </a:pPr>
            <a:r>
              <a:rPr sz="1250" b="0">
                <a:solidFill>
                  <a:srgbClr val="3A5143"/>
                </a:solidFill>
                <a:latin typeface="Calibri"/>
              </a:rPr>
              <a:t>The heatmap overlay is rendered on the phone, so the farmer can zoom into the hot region.</a:t>
            </a:r>
          </a:p>
        </p:txBody>
      </p:sp>
      <p:sp>
        <p:nvSpPr>
          <p:cNvPr id="17" name="Rounded Rectangle 16"/>
          <p:cNvSpPr/>
          <p:nvPr/>
        </p:nvSpPr>
        <p:spPr>
          <a:xfrm>
            <a:off x="8211312" y="1700784"/>
            <a:ext cx="3529584" cy="2011680"/>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11312" y="1700784"/>
            <a:ext cx="3529584" cy="45720"/>
          </a:xfrm>
          <a:prstGeom prst="rect">
            <a:avLst/>
          </a:prstGeom>
          <a:solidFill>
            <a:srgbClr val="0D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67344" y="1975104"/>
            <a:ext cx="3017520" cy="365760"/>
          </a:xfrm>
          <a:prstGeom prst="rect">
            <a:avLst/>
          </a:prstGeom>
          <a:noFill/>
        </p:spPr>
        <p:txBody>
          <a:bodyPr wrap="square" anchor="t" lIns="0" rIns="0" tIns="0" bIns="0">
            <a:spAutoFit/>
          </a:bodyPr>
          <a:lstStyle/>
          <a:p>
            <a:pPr algn="l">
              <a:lnSpc>
                <a:spcPct val="106000"/>
              </a:lnSpc>
            </a:pPr>
            <a:r>
              <a:rPr sz="1600" b="1">
                <a:solidFill>
                  <a:srgbClr val="0D3B1F"/>
                </a:solidFill>
                <a:latin typeface="Georgia"/>
              </a:rPr>
              <a:t>History</a:t>
            </a:r>
          </a:p>
        </p:txBody>
      </p:sp>
      <p:sp>
        <p:nvSpPr>
          <p:cNvPr id="20" name="TextBox 19"/>
          <p:cNvSpPr txBox="1"/>
          <p:nvPr/>
        </p:nvSpPr>
        <p:spPr>
          <a:xfrm>
            <a:off x="8467344" y="2432304"/>
            <a:ext cx="3017520" cy="1097280"/>
          </a:xfrm>
          <a:prstGeom prst="rect">
            <a:avLst/>
          </a:prstGeom>
          <a:noFill/>
        </p:spPr>
        <p:txBody>
          <a:bodyPr wrap="square" anchor="t" lIns="0" rIns="0" tIns="0" bIns="0">
            <a:spAutoFit/>
          </a:bodyPr>
          <a:lstStyle/>
          <a:p>
            <a:pPr algn="l">
              <a:lnSpc>
                <a:spcPct val="122000"/>
              </a:lnSpc>
            </a:pPr>
            <a:r>
              <a:rPr sz="1250" b="0">
                <a:solidFill>
                  <a:srgbClr val="3A5143"/>
                </a:solidFill>
                <a:latin typeface="Calibri"/>
              </a:rPr>
              <a:t>The last 50 diagnoses are stored locally and survive an app restart.</a:t>
            </a:r>
          </a:p>
        </p:txBody>
      </p:sp>
      <p:sp>
        <p:nvSpPr>
          <p:cNvPr id="21" name="Rounded Rectangle 20"/>
          <p:cNvSpPr/>
          <p:nvPr/>
        </p:nvSpPr>
        <p:spPr>
          <a:xfrm>
            <a:off x="658368" y="3950208"/>
            <a:ext cx="3529584" cy="2011680"/>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3950208"/>
            <a:ext cx="3529584"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224528"/>
            <a:ext cx="3017520" cy="365760"/>
          </a:xfrm>
          <a:prstGeom prst="rect">
            <a:avLst/>
          </a:prstGeom>
          <a:noFill/>
        </p:spPr>
        <p:txBody>
          <a:bodyPr wrap="square" anchor="t" lIns="0" rIns="0" tIns="0" bIns="0">
            <a:spAutoFit/>
          </a:bodyPr>
          <a:lstStyle/>
          <a:p>
            <a:pPr algn="l">
              <a:lnSpc>
                <a:spcPct val="106000"/>
              </a:lnSpc>
            </a:pPr>
            <a:r>
              <a:rPr sz="1600" b="1">
                <a:solidFill>
                  <a:srgbClr val="0D3B1F"/>
                </a:solidFill>
                <a:latin typeface="Georgia"/>
              </a:rPr>
              <a:t>Reference</a:t>
            </a:r>
          </a:p>
        </p:txBody>
      </p:sp>
      <p:sp>
        <p:nvSpPr>
          <p:cNvPr id="24" name="TextBox 23"/>
          <p:cNvSpPr txBox="1"/>
          <p:nvPr/>
        </p:nvSpPr>
        <p:spPr>
          <a:xfrm>
            <a:off x="914400" y="4681728"/>
            <a:ext cx="3017520" cy="1097280"/>
          </a:xfrm>
          <a:prstGeom prst="rect">
            <a:avLst/>
          </a:prstGeom>
          <a:noFill/>
        </p:spPr>
        <p:txBody>
          <a:bodyPr wrap="square" anchor="t" lIns="0" rIns="0" tIns="0" bIns="0">
            <a:spAutoFit/>
          </a:bodyPr>
          <a:lstStyle/>
          <a:p>
            <a:pPr algn="l">
              <a:lnSpc>
                <a:spcPct val="122000"/>
              </a:lnSpc>
            </a:pPr>
            <a:r>
              <a:rPr sz="1250" b="0">
                <a:solidFill>
                  <a:srgbClr val="3A5143"/>
                </a:solidFill>
                <a:latin typeface="Calibri"/>
              </a:rPr>
              <a:t>A built-in guide to each disease with symptoms and treatment steps, readable offline.</a:t>
            </a:r>
          </a:p>
        </p:txBody>
      </p:sp>
      <p:sp>
        <p:nvSpPr>
          <p:cNvPr id="25" name="Rounded Rectangle 24"/>
          <p:cNvSpPr/>
          <p:nvPr/>
        </p:nvSpPr>
        <p:spPr>
          <a:xfrm>
            <a:off x="4434840" y="3950208"/>
            <a:ext cx="3529584" cy="2011680"/>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3950208"/>
            <a:ext cx="3529584" cy="45720"/>
          </a:xfrm>
          <a:prstGeom prst="rect">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90872" y="4224528"/>
            <a:ext cx="3017520" cy="365760"/>
          </a:xfrm>
          <a:prstGeom prst="rect">
            <a:avLst/>
          </a:prstGeom>
          <a:noFill/>
        </p:spPr>
        <p:txBody>
          <a:bodyPr wrap="square" anchor="t" lIns="0" rIns="0" tIns="0" bIns="0">
            <a:spAutoFit/>
          </a:bodyPr>
          <a:lstStyle/>
          <a:p>
            <a:pPr algn="l">
              <a:lnSpc>
                <a:spcPct val="106000"/>
              </a:lnSpc>
            </a:pPr>
            <a:r>
              <a:rPr sz="1600" b="1">
                <a:solidFill>
                  <a:srgbClr val="0D3B1F"/>
                </a:solidFill>
                <a:latin typeface="Georgia"/>
              </a:rPr>
              <a:t>Support</a:t>
            </a:r>
          </a:p>
        </p:txBody>
      </p:sp>
      <p:sp>
        <p:nvSpPr>
          <p:cNvPr id="28" name="TextBox 27"/>
          <p:cNvSpPr txBox="1"/>
          <p:nvPr/>
        </p:nvSpPr>
        <p:spPr>
          <a:xfrm>
            <a:off x="4690872" y="4681728"/>
            <a:ext cx="3017520" cy="1097280"/>
          </a:xfrm>
          <a:prstGeom prst="rect">
            <a:avLst/>
          </a:prstGeom>
          <a:noFill/>
        </p:spPr>
        <p:txBody>
          <a:bodyPr wrap="square" anchor="t" lIns="0" rIns="0" tIns="0" bIns="0">
            <a:spAutoFit/>
          </a:bodyPr>
          <a:lstStyle/>
          <a:p>
            <a:pPr algn="l">
              <a:lnSpc>
                <a:spcPct val="122000"/>
              </a:lnSpc>
            </a:pPr>
            <a:r>
              <a:rPr sz="1250" b="0">
                <a:solidFill>
                  <a:srgbClr val="3A5143"/>
                </a:solidFill>
                <a:latin typeface="Calibri"/>
              </a:rPr>
              <a:t>A two-way chat with the superadmin, plus news, location advisories and profile.</a:t>
            </a:r>
          </a:p>
        </p:txBody>
      </p:sp>
      <p:sp>
        <p:nvSpPr>
          <p:cNvPr id="29" name="TextBox 28"/>
          <p:cNvSpPr txBox="1"/>
          <p:nvPr/>
        </p:nvSpPr>
        <p:spPr>
          <a:xfrm>
            <a:off x="658368" y="6035040"/>
            <a:ext cx="10881360" cy="320040"/>
          </a:xfrm>
          <a:prstGeom prst="rect">
            <a:avLst/>
          </a:prstGeom>
          <a:noFill/>
        </p:spPr>
        <p:txBody>
          <a:bodyPr wrap="square" anchor="t" lIns="0" rIns="0" tIns="0" bIns="0">
            <a:spAutoFit/>
          </a:bodyPr>
          <a:lstStyle/>
          <a:p>
            <a:pPr algn="l">
              <a:lnSpc>
                <a:spcPct val="106000"/>
              </a:lnSpc>
            </a:pPr>
            <a:r>
              <a:rPr sz="1250" b="0">
                <a:solidFill>
                  <a:srgbClr val="7E9486"/>
                </a:solidFill>
                <a:latin typeface="Calibri"/>
              </a:rPr>
              <a:t>Built with React Native (Expo) — one codebase, native Android build.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11 · OPERATIONS</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The superadmin console</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12</a:t>
            </a:r>
          </a:p>
        </p:txBody>
      </p:sp>
      <p:sp>
        <p:nvSpPr>
          <p:cNvPr id="9" name="Rectangle 8"/>
          <p:cNvSpPr/>
          <p:nvPr/>
        </p:nvSpPr>
        <p:spPr>
          <a:xfrm>
            <a:off x="1581911" y="1499616"/>
            <a:ext cx="5925312" cy="3730752"/>
          </a:xfrm>
          <a:prstGeom prst="rect">
            <a:avLst/>
          </a:prstGeom>
          <a:solidFill>
            <a:srgbClr val="FFFFFF"/>
          </a:solidFill>
          <a:ln w="1524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sole_dashboard.png"/>
          <p:cNvPicPr>
            <a:picLocks noChangeAspect="1"/>
          </p:cNvPicPr>
          <p:nvPr/>
        </p:nvPicPr>
        <p:blipFill>
          <a:blip r:embed="rId2"/>
          <a:stretch>
            <a:fillRect/>
          </a:stretch>
        </p:blipFill>
        <p:spPr>
          <a:xfrm>
            <a:off x="1618487" y="1536192"/>
            <a:ext cx="5852160" cy="3657600"/>
          </a:xfrm>
          <a:prstGeom prst="rect">
            <a:avLst/>
          </a:prstGeom>
        </p:spPr>
      </p:pic>
      <p:sp>
        <p:nvSpPr>
          <p:cNvPr id="11" name="TextBox 10"/>
          <p:cNvSpPr txBox="1"/>
          <p:nvPr/>
        </p:nvSpPr>
        <p:spPr>
          <a:xfrm>
            <a:off x="658368" y="5285232"/>
            <a:ext cx="7772400" cy="274320"/>
          </a:xfrm>
          <a:prstGeom prst="rect">
            <a:avLst/>
          </a:prstGeom>
          <a:noFill/>
        </p:spPr>
        <p:txBody>
          <a:bodyPr wrap="square" anchor="t" lIns="0" rIns="0" tIns="0" bIns="0">
            <a:spAutoFit/>
          </a:bodyPr>
          <a:lstStyle/>
          <a:p>
            <a:pPr algn="ctr">
              <a:lnSpc>
                <a:spcPct val="106000"/>
              </a:lnSpc>
            </a:pPr>
            <a:r>
              <a:rPr sz="1150" b="0">
                <a:solidFill>
                  <a:srgbClr val="7E9486"/>
                </a:solidFill>
                <a:latin typeface="Calibri"/>
              </a:rPr>
              <a:t>Live production dashboard — potatodoc.shadbhavregmi.com.np/admin</a:t>
            </a:r>
          </a:p>
        </p:txBody>
      </p:sp>
      <p:sp>
        <p:nvSpPr>
          <p:cNvPr id="12" name="Rounded Rectangle 11"/>
          <p:cNvSpPr/>
          <p:nvPr/>
        </p:nvSpPr>
        <p:spPr>
          <a:xfrm>
            <a:off x="8686800" y="1572768"/>
            <a:ext cx="2852928" cy="1060704"/>
          </a:xfrm>
          <a:prstGeom prst="roundRect">
            <a:avLst>
              <a:gd name="adj" fmla="val 10000"/>
            </a:avLst>
          </a:prstGeom>
          <a:solidFill>
            <a:srgbClr val="F7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06256" y="1719072"/>
            <a:ext cx="2468880" cy="274320"/>
          </a:xfrm>
          <a:prstGeom prst="rect">
            <a:avLst/>
          </a:prstGeom>
          <a:noFill/>
        </p:spPr>
        <p:txBody>
          <a:bodyPr wrap="square" anchor="t" lIns="0" rIns="0" tIns="0" bIns="0">
            <a:spAutoFit/>
          </a:bodyPr>
          <a:lstStyle/>
          <a:p>
            <a:pPr algn="l">
              <a:lnSpc>
                <a:spcPct val="106000"/>
              </a:lnSpc>
            </a:pPr>
            <a:r>
              <a:rPr sz="1350" b="1">
                <a:solidFill>
                  <a:srgbClr val="0D3B1F"/>
                </a:solidFill>
                <a:latin typeface="Georgia"/>
              </a:rPr>
              <a:t>Users</a:t>
            </a:r>
          </a:p>
        </p:txBody>
      </p:sp>
      <p:sp>
        <p:nvSpPr>
          <p:cNvPr id="14" name="TextBox 13"/>
          <p:cNvSpPr txBox="1"/>
          <p:nvPr/>
        </p:nvSpPr>
        <p:spPr>
          <a:xfrm>
            <a:off x="8906256" y="2011680"/>
            <a:ext cx="2468880" cy="548640"/>
          </a:xfrm>
          <a:prstGeom prst="rect">
            <a:avLst/>
          </a:prstGeom>
          <a:noFill/>
        </p:spPr>
        <p:txBody>
          <a:bodyPr wrap="square" anchor="t" lIns="0" rIns="0" tIns="0" bIns="0">
            <a:spAutoFit/>
          </a:bodyPr>
          <a:lstStyle/>
          <a:p>
            <a:pPr algn="l">
              <a:lnSpc>
                <a:spcPct val="116000"/>
              </a:lnSpc>
            </a:pPr>
            <a:r>
              <a:rPr sz="1100" b="0">
                <a:solidFill>
                  <a:srgbClr val="3A5143"/>
                </a:solidFill>
                <a:latin typeface="Calibri"/>
              </a:rPr>
              <a:t>Farmer accounts, roles and suspension — with a per-farmer detail view.</a:t>
            </a:r>
          </a:p>
        </p:txBody>
      </p:sp>
      <p:sp>
        <p:nvSpPr>
          <p:cNvPr id="15" name="Rounded Rectangle 14"/>
          <p:cNvSpPr/>
          <p:nvPr/>
        </p:nvSpPr>
        <p:spPr>
          <a:xfrm>
            <a:off x="8686800" y="2724912"/>
            <a:ext cx="2852928" cy="1060704"/>
          </a:xfrm>
          <a:prstGeom prst="roundRect">
            <a:avLst>
              <a:gd name="adj" fmla="val 10000"/>
            </a:avLst>
          </a:prstGeom>
          <a:solidFill>
            <a:srgbClr val="F7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06256" y="2871216"/>
            <a:ext cx="2468880" cy="274320"/>
          </a:xfrm>
          <a:prstGeom prst="rect">
            <a:avLst/>
          </a:prstGeom>
          <a:noFill/>
        </p:spPr>
        <p:txBody>
          <a:bodyPr wrap="square" anchor="t" lIns="0" rIns="0" tIns="0" bIns="0">
            <a:spAutoFit/>
          </a:bodyPr>
          <a:lstStyle/>
          <a:p>
            <a:pPr algn="l">
              <a:lnSpc>
                <a:spcPct val="106000"/>
              </a:lnSpc>
            </a:pPr>
            <a:r>
              <a:rPr sz="1350" b="1">
                <a:solidFill>
                  <a:srgbClr val="0D3B1F"/>
                </a:solidFill>
                <a:latin typeface="Georgia"/>
              </a:rPr>
              <a:t>Notices</a:t>
            </a:r>
          </a:p>
        </p:txBody>
      </p:sp>
      <p:sp>
        <p:nvSpPr>
          <p:cNvPr id="17" name="TextBox 16"/>
          <p:cNvSpPr txBox="1"/>
          <p:nvPr/>
        </p:nvSpPr>
        <p:spPr>
          <a:xfrm>
            <a:off x="8906256" y="3163824"/>
            <a:ext cx="2468880" cy="548640"/>
          </a:xfrm>
          <a:prstGeom prst="rect">
            <a:avLst/>
          </a:prstGeom>
          <a:noFill/>
        </p:spPr>
        <p:txBody>
          <a:bodyPr wrap="square" anchor="t" lIns="0" rIns="0" tIns="0" bIns="0">
            <a:spAutoFit/>
          </a:bodyPr>
          <a:lstStyle/>
          <a:p>
            <a:pPr algn="l">
              <a:lnSpc>
                <a:spcPct val="116000"/>
              </a:lnSpc>
            </a:pPr>
            <a:r>
              <a:rPr sz="1100" b="0">
                <a:solidFill>
                  <a:srgbClr val="3A5143"/>
                </a:solidFill>
                <a:latin typeface="Calibri"/>
              </a:rPr>
              <a:t>Publish advisories with images straight to every phone.</a:t>
            </a:r>
          </a:p>
        </p:txBody>
      </p:sp>
      <p:sp>
        <p:nvSpPr>
          <p:cNvPr id="18" name="Rounded Rectangle 17"/>
          <p:cNvSpPr/>
          <p:nvPr/>
        </p:nvSpPr>
        <p:spPr>
          <a:xfrm>
            <a:off x="8686800" y="3877056"/>
            <a:ext cx="2852928" cy="1060704"/>
          </a:xfrm>
          <a:prstGeom prst="roundRect">
            <a:avLst>
              <a:gd name="adj" fmla="val 10000"/>
            </a:avLst>
          </a:prstGeom>
          <a:solidFill>
            <a:srgbClr val="F7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06256" y="4023360"/>
            <a:ext cx="2468880" cy="274320"/>
          </a:xfrm>
          <a:prstGeom prst="rect">
            <a:avLst/>
          </a:prstGeom>
          <a:noFill/>
        </p:spPr>
        <p:txBody>
          <a:bodyPr wrap="square" anchor="t" lIns="0" rIns="0" tIns="0" bIns="0">
            <a:spAutoFit/>
          </a:bodyPr>
          <a:lstStyle/>
          <a:p>
            <a:pPr algn="l">
              <a:lnSpc>
                <a:spcPct val="106000"/>
              </a:lnSpc>
            </a:pPr>
            <a:r>
              <a:rPr sz="1350" b="1">
                <a:solidFill>
                  <a:srgbClr val="0D3B1F"/>
                </a:solidFill>
                <a:latin typeface="Georgia"/>
              </a:rPr>
              <a:t>Tickets</a:t>
            </a:r>
          </a:p>
        </p:txBody>
      </p:sp>
      <p:sp>
        <p:nvSpPr>
          <p:cNvPr id="20" name="TextBox 19"/>
          <p:cNvSpPr txBox="1"/>
          <p:nvPr/>
        </p:nvSpPr>
        <p:spPr>
          <a:xfrm>
            <a:off x="8906256" y="4315968"/>
            <a:ext cx="2468880" cy="548640"/>
          </a:xfrm>
          <a:prstGeom prst="rect">
            <a:avLst/>
          </a:prstGeom>
          <a:noFill/>
        </p:spPr>
        <p:txBody>
          <a:bodyPr wrap="square" anchor="t" lIns="0" rIns="0" tIns="0" bIns="0">
            <a:spAutoFit/>
          </a:bodyPr>
          <a:lstStyle/>
          <a:p>
            <a:pPr algn="l">
              <a:lnSpc>
                <a:spcPct val="116000"/>
              </a:lnSpc>
            </a:pPr>
            <a:r>
              <a:rPr sz="1100" b="0">
                <a:solidFill>
                  <a:srgbClr val="3A5143"/>
                </a:solidFill>
                <a:latin typeface="Calibri"/>
              </a:rPr>
              <a:t>A two-way support thread; a farmer reply reopens a resolved ticket.</a:t>
            </a:r>
          </a:p>
        </p:txBody>
      </p:sp>
      <p:sp>
        <p:nvSpPr>
          <p:cNvPr id="21" name="Rounded Rectangle 20"/>
          <p:cNvSpPr/>
          <p:nvPr/>
        </p:nvSpPr>
        <p:spPr>
          <a:xfrm>
            <a:off x="8686800" y="5029200"/>
            <a:ext cx="2852928" cy="1060704"/>
          </a:xfrm>
          <a:prstGeom prst="roundRect">
            <a:avLst>
              <a:gd name="adj" fmla="val 10000"/>
            </a:avLst>
          </a:prstGeom>
          <a:solidFill>
            <a:srgbClr val="F7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06256" y="5175504"/>
            <a:ext cx="2468880" cy="274320"/>
          </a:xfrm>
          <a:prstGeom prst="rect">
            <a:avLst/>
          </a:prstGeom>
          <a:noFill/>
        </p:spPr>
        <p:txBody>
          <a:bodyPr wrap="square" anchor="t" lIns="0" rIns="0" tIns="0" bIns="0">
            <a:spAutoFit/>
          </a:bodyPr>
          <a:lstStyle/>
          <a:p>
            <a:pPr algn="l">
              <a:lnSpc>
                <a:spcPct val="106000"/>
              </a:lnSpc>
            </a:pPr>
            <a:r>
              <a:rPr sz="1350" b="1">
                <a:solidFill>
                  <a:srgbClr val="0D3B1F"/>
                </a:solidFill>
                <a:latin typeface="Georgia"/>
              </a:rPr>
              <a:t>Models</a:t>
            </a:r>
          </a:p>
        </p:txBody>
      </p:sp>
      <p:sp>
        <p:nvSpPr>
          <p:cNvPr id="23" name="TextBox 22"/>
          <p:cNvSpPr txBox="1"/>
          <p:nvPr/>
        </p:nvSpPr>
        <p:spPr>
          <a:xfrm>
            <a:off x="8906256" y="5468112"/>
            <a:ext cx="2468880" cy="548640"/>
          </a:xfrm>
          <a:prstGeom prst="rect">
            <a:avLst/>
          </a:prstGeom>
          <a:noFill/>
        </p:spPr>
        <p:txBody>
          <a:bodyPr wrap="square" anchor="t" lIns="0" rIns="0" tIns="0" bIns="0">
            <a:spAutoFit/>
          </a:bodyPr>
          <a:lstStyle/>
          <a:p>
            <a:pPr algn="l">
              <a:lnSpc>
                <a:spcPct val="116000"/>
              </a:lnSpc>
            </a:pPr>
            <a:r>
              <a:rPr sz="1100" b="0">
                <a:solidFill>
                  <a:srgbClr val="3A5143"/>
                </a:solidFill>
                <a:latin typeface="Calibri"/>
              </a:rPr>
              <a:t>Live inventory of every served model and which one is the default.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12 · IN PRODUCTION</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Real usage, not a demo</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13</a:t>
            </a:r>
          </a:p>
        </p:txBody>
      </p:sp>
      <p:sp>
        <p:nvSpPr>
          <p:cNvPr id="9" name="Rectangle 8"/>
          <p:cNvSpPr/>
          <p:nvPr/>
        </p:nvSpPr>
        <p:spPr>
          <a:xfrm>
            <a:off x="512063" y="1868610"/>
            <a:ext cx="8394192" cy="3669418"/>
          </a:xfrm>
          <a:prstGeom prst="rect">
            <a:avLst/>
          </a:prstGeom>
          <a:solidFill>
            <a:srgbClr val="FFFFFF"/>
          </a:solidFill>
          <a:ln w="1524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production.png"/>
          <p:cNvPicPr>
            <a:picLocks noChangeAspect="1"/>
          </p:cNvPicPr>
          <p:nvPr/>
        </p:nvPicPr>
        <p:blipFill>
          <a:blip r:embed="rId2"/>
          <a:stretch>
            <a:fillRect/>
          </a:stretch>
        </p:blipFill>
        <p:spPr>
          <a:xfrm>
            <a:off x="548640" y="1905186"/>
            <a:ext cx="8321040" cy="3596266"/>
          </a:xfrm>
          <a:prstGeom prst="rect">
            <a:avLst/>
          </a:prstGeom>
        </p:spPr>
      </p:pic>
      <p:sp>
        <p:nvSpPr>
          <p:cNvPr id="11" name="Rounded Rectangle 10"/>
          <p:cNvSpPr/>
          <p:nvPr/>
        </p:nvSpPr>
        <p:spPr>
          <a:xfrm>
            <a:off x="9098280" y="1700784"/>
            <a:ext cx="2468880" cy="1170432"/>
          </a:xfrm>
          <a:prstGeom prst="roundRect">
            <a:avLst>
              <a:gd name="adj" fmla="val 11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08007" y="1847088"/>
            <a:ext cx="2249424" cy="548640"/>
          </a:xfrm>
          <a:prstGeom prst="rect">
            <a:avLst/>
          </a:prstGeom>
          <a:noFill/>
        </p:spPr>
        <p:txBody>
          <a:bodyPr wrap="square" anchor="t" lIns="0" rIns="0" tIns="0" bIns="0">
            <a:spAutoFit/>
          </a:bodyPr>
          <a:lstStyle/>
          <a:p>
            <a:pPr algn="ctr">
              <a:lnSpc>
                <a:spcPct val="106000"/>
              </a:lnSpc>
            </a:pPr>
            <a:r>
              <a:rPr sz="3000" b="1">
                <a:solidFill>
                  <a:srgbClr val="2E9E4F"/>
                </a:solidFill>
                <a:latin typeface="Georgia"/>
              </a:rPr>
              <a:t>106</a:t>
            </a:r>
          </a:p>
        </p:txBody>
      </p:sp>
      <p:sp>
        <p:nvSpPr>
          <p:cNvPr id="13" name="TextBox 12"/>
          <p:cNvSpPr txBox="1"/>
          <p:nvPr/>
        </p:nvSpPr>
        <p:spPr>
          <a:xfrm>
            <a:off x="9208007" y="2450592"/>
            <a:ext cx="2249424" cy="365760"/>
          </a:xfrm>
          <a:prstGeom prst="rect">
            <a:avLst/>
          </a:prstGeom>
          <a:noFill/>
        </p:spPr>
        <p:txBody>
          <a:bodyPr wrap="square" anchor="t" lIns="0" rIns="0" tIns="0" bIns="0">
            <a:spAutoFit/>
          </a:bodyPr>
          <a:lstStyle/>
          <a:p>
            <a:pPr algn="ctr">
              <a:lnSpc>
                <a:spcPct val="106000"/>
              </a:lnSpc>
            </a:pPr>
            <a:r>
              <a:rPr sz="1150" b="0">
                <a:solidFill>
                  <a:srgbClr val="3A5143"/>
                </a:solidFill>
                <a:latin typeface="Calibri"/>
              </a:rPr>
              <a:t>diagnoses
recorded</a:t>
            </a:r>
          </a:p>
        </p:txBody>
      </p:sp>
      <p:sp>
        <p:nvSpPr>
          <p:cNvPr id="14" name="Rounded Rectangle 13"/>
          <p:cNvSpPr/>
          <p:nvPr/>
        </p:nvSpPr>
        <p:spPr>
          <a:xfrm>
            <a:off x="9098280" y="3035808"/>
            <a:ext cx="2468880" cy="1170432"/>
          </a:xfrm>
          <a:prstGeom prst="roundRect">
            <a:avLst>
              <a:gd name="adj" fmla="val 11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08007" y="3182112"/>
            <a:ext cx="2249424" cy="548640"/>
          </a:xfrm>
          <a:prstGeom prst="rect">
            <a:avLst/>
          </a:prstGeom>
          <a:noFill/>
        </p:spPr>
        <p:txBody>
          <a:bodyPr wrap="square" anchor="t" lIns="0" rIns="0" tIns="0" bIns="0">
            <a:spAutoFit/>
          </a:bodyPr>
          <a:lstStyle/>
          <a:p>
            <a:pPr algn="ctr">
              <a:lnSpc>
                <a:spcPct val="106000"/>
              </a:lnSpc>
            </a:pPr>
            <a:r>
              <a:rPr sz="3000" b="1">
                <a:solidFill>
                  <a:srgbClr val="2E9E4F"/>
                </a:solidFill>
                <a:latin typeface="Georgia"/>
              </a:rPr>
              <a:t>10</a:t>
            </a:r>
          </a:p>
        </p:txBody>
      </p:sp>
      <p:sp>
        <p:nvSpPr>
          <p:cNvPr id="16" name="TextBox 15"/>
          <p:cNvSpPr txBox="1"/>
          <p:nvPr/>
        </p:nvSpPr>
        <p:spPr>
          <a:xfrm>
            <a:off x="9208007" y="3785616"/>
            <a:ext cx="2249424" cy="365760"/>
          </a:xfrm>
          <a:prstGeom prst="rect">
            <a:avLst/>
          </a:prstGeom>
          <a:noFill/>
        </p:spPr>
        <p:txBody>
          <a:bodyPr wrap="square" anchor="t" lIns="0" rIns="0" tIns="0" bIns="0">
            <a:spAutoFit/>
          </a:bodyPr>
          <a:lstStyle/>
          <a:p>
            <a:pPr algn="ctr">
              <a:lnSpc>
                <a:spcPct val="106000"/>
              </a:lnSpc>
            </a:pPr>
            <a:r>
              <a:rPr sz="1150" b="0">
                <a:solidFill>
                  <a:srgbClr val="3A5143"/>
                </a:solidFill>
                <a:latin typeface="Calibri"/>
              </a:rPr>
              <a:t>farmer
accounts</a:t>
            </a:r>
          </a:p>
        </p:txBody>
      </p:sp>
      <p:sp>
        <p:nvSpPr>
          <p:cNvPr id="17" name="Rounded Rectangle 16"/>
          <p:cNvSpPr/>
          <p:nvPr/>
        </p:nvSpPr>
        <p:spPr>
          <a:xfrm>
            <a:off x="9098280" y="4370832"/>
            <a:ext cx="2468880" cy="1170432"/>
          </a:xfrm>
          <a:prstGeom prst="roundRect">
            <a:avLst>
              <a:gd name="adj" fmla="val 11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08007" y="4517136"/>
            <a:ext cx="2249424" cy="548640"/>
          </a:xfrm>
          <a:prstGeom prst="rect">
            <a:avLst/>
          </a:prstGeom>
          <a:noFill/>
        </p:spPr>
        <p:txBody>
          <a:bodyPr wrap="square" anchor="t" lIns="0" rIns="0" tIns="0" bIns="0">
            <a:spAutoFit/>
          </a:bodyPr>
          <a:lstStyle/>
          <a:p>
            <a:pPr algn="ctr">
              <a:lnSpc>
                <a:spcPct val="106000"/>
              </a:lnSpc>
            </a:pPr>
            <a:r>
              <a:rPr sz="3000" b="1">
                <a:solidFill>
                  <a:srgbClr val="2E9E4F"/>
                </a:solidFill>
                <a:latin typeface="Georgia"/>
              </a:rPr>
              <a:t>4</a:t>
            </a:r>
          </a:p>
        </p:txBody>
      </p:sp>
      <p:sp>
        <p:nvSpPr>
          <p:cNvPr id="19" name="TextBox 18"/>
          <p:cNvSpPr txBox="1"/>
          <p:nvPr/>
        </p:nvSpPr>
        <p:spPr>
          <a:xfrm>
            <a:off x="9208007" y="5120640"/>
            <a:ext cx="2249424" cy="365760"/>
          </a:xfrm>
          <a:prstGeom prst="rect">
            <a:avLst/>
          </a:prstGeom>
          <a:noFill/>
        </p:spPr>
        <p:txBody>
          <a:bodyPr wrap="square" anchor="t" lIns="0" rIns="0" tIns="0" bIns="0">
            <a:spAutoFit/>
          </a:bodyPr>
          <a:lstStyle/>
          <a:p>
            <a:pPr algn="ctr">
              <a:lnSpc>
                <a:spcPct val="106000"/>
              </a:lnSpc>
            </a:pPr>
            <a:r>
              <a:rPr sz="1150" b="0">
                <a:solidFill>
                  <a:srgbClr val="3A5143"/>
                </a:solidFill>
                <a:latin typeface="Calibri"/>
              </a:rPr>
              <a:t>models
served</a:t>
            </a:r>
          </a:p>
        </p:txBody>
      </p:sp>
      <p:sp>
        <p:nvSpPr>
          <p:cNvPr id="20" name="Rounded Rectangle 19"/>
          <p:cNvSpPr/>
          <p:nvPr/>
        </p:nvSpPr>
        <p:spPr>
          <a:xfrm>
            <a:off x="9098280" y="5705856"/>
            <a:ext cx="2468880" cy="548640"/>
          </a:xfrm>
          <a:prstGeom prst="roundRect">
            <a:avLst>
              <a:gd name="adj" fmla="val 24000"/>
            </a:avLst>
          </a:prstGeom>
          <a:solidFill>
            <a:srgbClr val="0D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5833872"/>
            <a:ext cx="2468880" cy="320040"/>
          </a:xfrm>
          <a:prstGeom prst="rect">
            <a:avLst/>
          </a:prstGeom>
          <a:noFill/>
        </p:spPr>
        <p:txBody>
          <a:bodyPr wrap="square" anchor="t" lIns="0" rIns="0" tIns="0" bIns="0">
            <a:spAutoFit/>
          </a:bodyPr>
          <a:lstStyle/>
          <a:p>
            <a:pPr algn="ctr">
              <a:lnSpc>
                <a:spcPct val="106000"/>
              </a:lnSpc>
            </a:pPr>
            <a:r>
              <a:rPr sz="1200" b="1">
                <a:solidFill>
                  <a:srgbClr val="FFFFFF"/>
                </a:solidFill>
                <a:latin typeface="Calibri"/>
              </a:rPr>
              <a:t>smoke-tested live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20624"/>
            <a:ext cx="8686800" cy="274320"/>
          </a:xfrm>
          <a:prstGeom prst="rect">
            <a:avLst/>
          </a:prstGeom>
          <a:noFill/>
        </p:spPr>
        <p:txBody>
          <a:bodyPr wrap="square" anchor="t" lIns="0" rIns="0" tIns="0" bIns="0">
            <a:spAutoFit/>
          </a:bodyPr>
          <a:lstStyle/>
          <a:p>
            <a:pPr algn="l">
              <a:lnSpc>
                <a:spcPct val="106000"/>
              </a:lnSpc>
            </a:pPr>
            <a:r>
              <a:rPr sz="1150" b="1">
                <a:solidFill>
                  <a:srgbClr val="2E9E4F"/>
                </a:solidFill>
                <a:latin typeface="Calibri"/>
              </a:rPr>
              <a:t>13 · QUALITY</a:t>
            </a:r>
          </a:p>
        </p:txBody>
      </p:sp>
      <p:sp>
        <p:nvSpPr>
          <p:cNvPr id="5" name="TextBox 4"/>
          <p:cNvSpPr txBox="1"/>
          <p:nvPr/>
        </p:nvSpPr>
        <p:spPr>
          <a:xfrm>
            <a:off x="658368" y="694944"/>
            <a:ext cx="10424160" cy="566928"/>
          </a:xfrm>
          <a:prstGeom prst="rect">
            <a:avLst/>
          </a:prstGeom>
          <a:noFill/>
        </p:spPr>
        <p:txBody>
          <a:bodyPr wrap="square" anchor="t" lIns="0" rIns="0" tIns="0" bIns="0">
            <a:spAutoFit/>
          </a:bodyPr>
          <a:lstStyle/>
          <a:p>
            <a:pPr algn="l">
              <a:lnSpc>
                <a:spcPct val="106000"/>
              </a:lnSpc>
            </a:pPr>
            <a:r>
              <a:rPr sz="3000" b="1">
                <a:solidFill>
                  <a:srgbClr val="0D3B1F"/>
                </a:solidFill>
                <a:latin typeface="Georgia"/>
              </a:rPr>
              <a:t>Engineering behind the project</a:t>
            </a:r>
          </a:p>
        </p:txBody>
      </p:sp>
      <p:sp>
        <p:nvSpPr>
          <p:cNvPr id="6" name="Rectangle 5"/>
          <p:cNvSpPr/>
          <p:nvPr/>
        </p:nvSpPr>
        <p:spPr>
          <a:xfrm>
            <a:off x="658368" y="1316736"/>
            <a:ext cx="1371600" cy="45720"/>
          </a:xfrm>
          <a:prstGeom prst="rect">
            <a:avLst/>
          </a:prstGeom>
          <a:solidFill>
            <a:srgbClr val="D6EC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19088"/>
            <a:ext cx="5486400" cy="274320"/>
          </a:xfrm>
          <a:prstGeom prst="rect">
            <a:avLst/>
          </a:prstGeom>
          <a:noFill/>
        </p:spPr>
        <p:txBody>
          <a:bodyPr wrap="square" anchor="t" lIns="0" rIns="0" tIns="0" bIns="0">
            <a:spAutoFit/>
          </a:bodyPr>
          <a:lstStyle/>
          <a:p>
            <a:pPr algn="l">
              <a:lnSpc>
                <a:spcPct val="106000"/>
              </a:lnSpc>
            </a:pPr>
            <a:r>
              <a:rPr sz="950" b="0">
                <a:solidFill>
                  <a:srgbClr val="7E9486"/>
                </a:solidFill>
                <a:latin typeface="Calibri"/>
              </a:rPr>
              <a:t>PotatoDoc  ·  Gandaki University</a:t>
            </a:r>
          </a:p>
        </p:txBody>
      </p:sp>
      <p:sp>
        <p:nvSpPr>
          <p:cNvPr id="8" name="TextBox 7"/>
          <p:cNvSpPr txBox="1"/>
          <p:nvPr/>
        </p:nvSpPr>
        <p:spPr>
          <a:xfrm>
            <a:off x="10607040" y="6419088"/>
            <a:ext cx="914400" cy="274320"/>
          </a:xfrm>
          <a:prstGeom prst="rect">
            <a:avLst/>
          </a:prstGeom>
          <a:noFill/>
        </p:spPr>
        <p:txBody>
          <a:bodyPr wrap="square" anchor="t" lIns="0" rIns="0" tIns="0" bIns="0">
            <a:spAutoFit/>
          </a:bodyPr>
          <a:lstStyle/>
          <a:p>
            <a:pPr algn="r">
              <a:lnSpc>
                <a:spcPct val="106000"/>
              </a:lnSpc>
            </a:pPr>
            <a:r>
              <a:rPr sz="1000" b="1">
                <a:solidFill>
                  <a:srgbClr val="2E9E4F"/>
                </a:solidFill>
                <a:latin typeface="Calibri"/>
              </a:rPr>
              <a:t>14</a:t>
            </a:r>
          </a:p>
        </p:txBody>
      </p:sp>
      <p:sp>
        <p:nvSpPr>
          <p:cNvPr id="9" name="Rounded Rectangle 8"/>
          <p:cNvSpPr/>
          <p:nvPr/>
        </p:nvSpPr>
        <p:spPr>
          <a:xfrm>
            <a:off x="658368" y="1645920"/>
            <a:ext cx="3529584" cy="1993392"/>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645920"/>
            <a:ext cx="3529584"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83664"/>
            <a:ext cx="3017520" cy="457200"/>
          </a:xfrm>
          <a:prstGeom prst="rect">
            <a:avLst/>
          </a:prstGeom>
          <a:noFill/>
        </p:spPr>
        <p:txBody>
          <a:bodyPr wrap="square" anchor="t" lIns="0" rIns="0" tIns="0" bIns="0">
            <a:spAutoFit/>
          </a:bodyPr>
          <a:lstStyle/>
          <a:p>
            <a:pPr algn="l">
              <a:lnSpc>
                <a:spcPct val="106000"/>
              </a:lnSpc>
            </a:pPr>
            <a:r>
              <a:rPr sz="2200" b="1">
                <a:solidFill>
                  <a:srgbClr val="2E9E4F"/>
                </a:solidFill>
                <a:latin typeface="Georgia"/>
              </a:rPr>
              <a:t>171 + 23</a:t>
            </a:r>
          </a:p>
        </p:txBody>
      </p:sp>
      <p:sp>
        <p:nvSpPr>
          <p:cNvPr id="12" name="TextBox 11"/>
          <p:cNvSpPr txBox="1"/>
          <p:nvPr/>
        </p:nvSpPr>
        <p:spPr>
          <a:xfrm>
            <a:off x="914400" y="2359152"/>
            <a:ext cx="3017520" cy="274320"/>
          </a:xfrm>
          <a:prstGeom prst="rect">
            <a:avLst/>
          </a:prstGeom>
          <a:noFill/>
        </p:spPr>
        <p:txBody>
          <a:bodyPr wrap="square" anchor="t" lIns="0" rIns="0" tIns="0" bIns="0">
            <a:spAutoFit/>
          </a:bodyPr>
          <a:lstStyle/>
          <a:p>
            <a:pPr algn="l">
              <a:lnSpc>
                <a:spcPct val="106000"/>
              </a:lnSpc>
            </a:pPr>
            <a:r>
              <a:rPr sz="1000" b="1">
                <a:solidFill>
                  <a:srgbClr val="7E9486"/>
                </a:solidFill>
                <a:latin typeface="Calibri"/>
              </a:rPr>
              <a:t>AUTOMATED TESTS</a:t>
            </a:r>
          </a:p>
        </p:txBody>
      </p:sp>
      <p:sp>
        <p:nvSpPr>
          <p:cNvPr id="13" name="TextBox 12"/>
          <p:cNvSpPr txBox="1"/>
          <p:nvPr/>
        </p:nvSpPr>
        <p:spPr>
          <a:xfrm>
            <a:off x="914400" y="2706624"/>
            <a:ext cx="3017520" cy="822960"/>
          </a:xfrm>
          <a:prstGeom prst="rect">
            <a:avLst/>
          </a:prstGeom>
          <a:noFill/>
        </p:spPr>
        <p:txBody>
          <a:bodyPr wrap="square" anchor="t" lIns="0" rIns="0" tIns="0" bIns="0">
            <a:spAutoFit/>
          </a:bodyPr>
          <a:lstStyle/>
          <a:p>
            <a:pPr algn="l">
              <a:lnSpc>
                <a:spcPct val="120000"/>
              </a:lnSpc>
            </a:pPr>
            <a:r>
              <a:rPr sz="1150" b="0">
                <a:solidFill>
                  <a:srgbClr val="3A5143"/>
                </a:solidFill>
                <a:latin typeface="Calibri"/>
              </a:rPr>
              <a:t>171 backend tests covering auth, gates, history, notices and tickets, plus 23 mobile UI tests.</a:t>
            </a:r>
          </a:p>
        </p:txBody>
      </p:sp>
      <p:sp>
        <p:nvSpPr>
          <p:cNvPr id="14" name="Rounded Rectangle 13"/>
          <p:cNvSpPr/>
          <p:nvPr/>
        </p:nvSpPr>
        <p:spPr>
          <a:xfrm>
            <a:off x="4434840" y="1645920"/>
            <a:ext cx="3529584" cy="1993392"/>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1645920"/>
            <a:ext cx="3529584" cy="45720"/>
          </a:xfrm>
          <a:prstGeom prst="rect">
            <a:avLst/>
          </a:prstGeom>
          <a:solidFill>
            <a:srgbClr val="57B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0872" y="1883664"/>
            <a:ext cx="3017520" cy="457200"/>
          </a:xfrm>
          <a:prstGeom prst="rect">
            <a:avLst/>
          </a:prstGeom>
          <a:noFill/>
        </p:spPr>
        <p:txBody>
          <a:bodyPr wrap="square" anchor="t" lIns="0" rIns="0" tIns="0" bIns="0">
            <a:spAutoFit/>
          </a:bodyPr>
          <a:lstStyle/>
          <a:p>
            <a:pPr algn="l">
              <a:lnSpc>
                <a:spcPct val="106000"/>
              </a:lnSpc>
            </a:pPr>
            <a:r>
              <a:rPr sz="2200" b="1">
                <a:solidFill>
                  <a:srgbClr val="57B873"/>
                </a:solidFill>
                <a:latin typeface="Georgia"/>
              </a:rPr>
              <a:t>58 / 59</a:t>
            </a:r>
          </a:p>
        </p:txBody>
      </p:sp>
      <p:sp>
        <p:nvSpPr>
          <p:cNvPr id="17" name="TextBox 16"/>
          <p:cNvSpPr txBox="1"/>
          <p:nvPr/>
        </p:nvSpPr>
        <p:spPr>
          <a:xfrm>
            <a:off x="4690872" y="2359152"/>
            <a:ext cx="3017520" cy="274320"/>
          </a:xfrm>
          <a:prstGeom prst="rect">
            <a:avLst/>
          </a:prstGeom>
          <a:noFill/>
        </p:spPr>
        <p:txBody>
          <a:bodyPr wrap="square" anchor="t" lIns="0" rIns="0" tIns="0" bIns="0">
            <a:spAutoFit/>
          </a:bodyPr>
          <a:lstStyle/>
          <a:p>
            <a:pPr algn="l">
              <a:lnSpc>
                <a:spcPct val="106000"/>
              </a:lnSpc>
            </a:pPr>
            <a:r>
              <a:rPr sz="1000" b="1">
                <a:solidFill>
                  <a:srgbClr val="7E9486"/>
                </a:solidFill>
                <a:latin typeface="Calibri"/>
              </a:rPr>
              <a:t>EMULATOR CAMPAIGN</a:t>
            </a:r>
          </a:p>
        </p:txBody>
      </p:sp>
      <p:sp>
        <p:nvSpPr>
          <p:cNvPr id="18" name="TextBox 17"/>
          <p:cNvSpPr txBox="1"/>
          <p:nvPr/>
        </p:nvSpPr>
        <p:spPr>
          <a:xfrm>
            <a:off x="4690872" y="2706624"/>
            <a:ext cx="3017520" cy="822960"/>
          </a:xfrm>
          <a:prstGeom prst="rect">
            <a:avLst/>
          </a:prstGeom>
          <a:noFill/>
        </p:spPr>
        <p:txBody>
          <a:bodyPr wrap="square" anchor="t" lIns="0" rIns="0" tIns="0" bIns="0">
            <a:spAutoFit/>
          </a:bodyPr>
          <a:lstStyle/>
          <a:p>
            <a:pPr algn="l">
              <a:lnSpc>
                <a:spcPct val="120000"/>
              </a:lnSpc>
            </a:pPr>
            <a:r>
              <a:rPr sz="1150" b="0">
                <a:solidFill>
                  <a:srgbClr val="3A5143"/>
                </a:solidFill>
                <a:latin typeface="Calibri"/>
              </a:rPr>
              <a:t>A 59-case automated UI-to-API cross-check. The single failure was a known environmental issue, not a logic bug.</a:t>
            </a:r>
          </a:p>
        </p:txBody>
      </p:sp>
      <p:sp>
        <p:nvSpPr>
          <p:cNvPr id="19" name="Rounded Rectangle 18"/>
          <p:cNvSpPr/>
          <p:nvPr/>
        </p:nvSpPr>
        <p:spPr>
          <a:xfrm>
            <a:off x="8211312" y="1645920"/>
            <a:ext cx="3529584" cy="1993392"/>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11312" y="1645920"/>
            <a:ext cx="3529584" cy="45720"/>
          </a:xfrm>
          <a:prstGeom prst="rect">
            <a:avLst/>
          </a:prstGeom>
          <a:solidFill>
            <a:srgbClr val="0D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67344" y="1883664"/>
            <a:ext cx="3017520" cy="457200"/>
          </a:xfrm>
          <a:prstGeom prst="rect">
            <a:avLst/>
          </a:prstGeom>
          <a:noFill/>
        </p:spPr>
        <p:txBody>
          <a:bodyPr wrap="square" anchor="t" lIns="0" rIns="0" tIns="0" bIns="0">
            <a:spAutoFit/>
          </a:bodyPr>
          <a:lstStyle/>
          <a:p>
            <a:pPr algn="l">
              <a:lnSpc>
                <a:spcPct val="106000"/>
              </a:lnSpc>
            </a:pPr>
            <a:r>
              <a:rPr sz="2200" b="1">
                <a:solidFill>
                  <a:srgbClr val="0D3B1F"/>
                </a:solidFill>
                <a:latin typeface="Georgia"/>
              </a:rPr>
              <a:t>No open port</a:t>
            </a:r>
          </a:p>
        </p:txBody>
      </p:sp>
      <p:sp>
        <p:nvSpPr>
          <p:cNvPr id="22" name="TextBox 21"/>
          <p:cNvSpPr txBox="1"/>
          <p:nvPr/>
        </p:nvSpPr>
        <p:spPr>
          <a:xfrm>
            <a:off x="8467344" y="2359152"/>
            <a:ext cx="3017520" cy="274320"/>
          </a:xfrm>
          <a:prstGeom prst="rect">
            <a:avLst/>
          </a:prstGeom>
          <a:noFill/>
        </p:spPr>
        <p:txBody>
          <a:bodyPr wrap="square" anchor="t" lIns="0" rIns="0" tIns="0" bIns="0">
            <a:spAutoFit/>
          </a:bodyPr>
          <a:lstStyle/>
          <a:p>
            <a:pPr algn="l">
              <a:lnSpc>
                <a:spcPct val="106000"/>
              </a:lnSpc>
            </a:pPr>
            <a:r>
              <a:rPr sz="1000" b="1">
                <a:solidFill>
                  <a:srgbClr val="7E9486"/>
                </a:solidFill>
                <a:latin typeface="Calibri"/>
              </a:rPr>
              <a:t>CLOUDFLARE NAMED TUNNEL</a:t>
            </a:r>
          </a:p>
        </p:txBody>
      </p:sp>
      <p:sp>
        <p:nvSpPr>
          <p:cNvPr id="23" name="TextBox 22"/>
          <p:cNvSpPr txBox="1"/>
          <p:nvPr/>
        </p:nvSpPr>
        <p:spPr>
          <a:xfrm>
            <a:off x="8467344" y="2706624"/>
            <a:ext cx="3017520" cy="822960"/>
          </a:xfrm>
          <a:prstGeom prst="rect">
            <a:avLst/>
          </a:prstGeom>
          <a:noFill/>
        </p:spPr>
        <p:txBody>
          <a:bodyPr wrap="square" anchor="t" lIns="0" rIns="0" tIns="0" bIns="0">
            <a:spAutoFit/>
          </a:bodyPr>
          <a:lstStyle/>
          <a:p>
            <a:pPr algn="l">
              <a:lnSpc>
                <a:spcPct val="120000"/>
              </a:lnSpc>
            </a:pPr>
            <a:r>
              <a:rPr sz="1150" b="0">
                <a:solidFill>
                  <a:srgbClr val="3A5143"/>
                </a:solidFill>
                <a:latin typeface="Calibri"/>
              </a:rPr>
              <a:t>The server is reachable only through the tunnel, so nothing is exposed directly to the internet.</a:t>
            </a:r>
          </a:p>
        </p:txBody>
      </p:sp>
      <p:sp>
        <p:nvSpPr>
          <p:cNvPr id="24" name="Rounded Rectangle 23"/>
          <p:cNvSpPr/>
          <p:nvPr/>
        </p:nvSpPr>
        <p:spPr>
          <a:xfrm>
            <a:off x="658368" y="3877056"/>
            <a:ext cx="3529584" cy="1993392"/>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877056"/>
            <a:ext cx="3529584"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114800"/>
            <a:ext cx="3017520" cy="457200"/>
          </a:xfrm>
          <a:prstGeom prst="rect">
            <a:avLst/>
          </a:prstGeom>
          <a:noFill/>
        </p:spPr>
        <p:txBody>
          <a:bodyPr wrap="square" anchor="t" lIns="0" rIns="0" tIns="0" bIns="0">
            <a:spAutoFit/>
          </a:bodyPr>
          <a:lstStyle/>
          <a:p>
            <a:pPr algn="l">
              <a:lnSpc>
                <a:spcPct val="106000"/>
              </a:lnSpc>
            </a:pPr>
            <a:r>
              <a:rPr sz="2200" b="1">
                <a:solidFill>
                  <a:srgbClr val="2E9E4F"/>
                </a:solidFill>
                <a:latin typeface="Georgia"/>
              </a:rPr>
              <a:t>PBKDF2</a:t>
            </a:r>
          </a:p>
        </p:txBody>
      </p:sp>
      <p:sp>
        <p:nvSpPr>
          <p:cNvPr id="27" name="TextBox 26"/>
          <p:cNvSpPr txBox="1"/>
          <p:nvPr/>
        </p:nvSpPr>
        <p:spPr>
          <a:xfrm>
            <a:off x="914400" y="4590288"/>
            <a:ext cx="3017520" cy="274320"/>
          </a:xfrm>
          <a:prstGeom prst="rect">
            <a:avLst/>
          </a:prstGeom>
          <a:noFill/>
        </p:spPr>
        <p:txBody>
          <a:bodyPr wrap="square" anchor="t" lIns="0" rIns="0" tIns="0" bIns="0">
            <a:spAutoFit/>
          </a:bodyPr>
          <a:lstStyle/>
          <a:p>
            <a:pPr algn="l">
              <a:lnSpc>
                <a:spcPct val="106000"/>
              </a:lnSpc>
            </a:pPr>
            <a:r>
              <a:rPr sz="1000" b="1">
                <a:solidFill>
                  <a:srgbClr val="7E9486"/>
                </a:solidFill>
                <a:latin typeface="Calibri"/>
              </a:rPr>
              <a:t>PASSWORD STORAGE</a:t>
            </a:r>
          </a:p>
        </p:txBody>
      </p:sp>
      <p:sp>
        <p:nvSpPr>
          <p:cNvPr id="28" name="TextBox 27"/>
          <p:cNvSpPr txBox="1"/>
          <p:nvPr/>
        </p:nvSpPr>
        <p:spPr>
          <a:xfrm>
            <a:off x="914400" y="4937760"/>
            <a:ext cx="3017520" cy="822960"/>
          </a:xfrm>
          <a:prstGeom prst="rect">
            <a:avLst/>
          </a:prstGeom>
          <a:noFill/>
        </p:spPr>
        <p:txBody>
          <a:bodyPr wrap="square" anchor="t" lIns="0" rIns="0" tIns="0" bIns="0">
            <a:spAutoFit/>
          </a:bodyPr>
          <a:lstStyle/>
          <a:p>
            <a:pPr algn="l">
              <a:lnSpc>
                <a:spcPct val="120000"/>
              </a:lnSpc>
            </a:pPr>
            <a:r>
              <a:rPr sz="1150" b="0">
                <a:solidFill>
                  <a:srgbClr val="3A5143"/>
                </a:solidFill>
                <a:latin typeface="Calibri"/>
              </a:rPr>
              <a:t>Passwords are never stored in plain text; every protected route is guarded by require_user.</a:t>
            </a:r>
          </a:p>
        </p:txBody>
      </p:sp>
      <p:sp>
        <p:nvSpPr>
          <p:cNvPr id="29" name="Rounded Rectangle 28"/>
          <p:cNvSpPr/>
          <p:nvPr/>
        </p:nvSpPr>
        <p:spPr>
          <a:xfrm>
            <a:off x="4434840" y="3877056"/>
            <a:ext cx="3529584" cy="1993392"/>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34840" y="3877056"/>
            <a:ext cx="3529584" cy="45720"/>
          </a:xfrm>
          <a:prstGeom prst="rect">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90872" y="4114800"/>
            <a:ext cx="3017520" cy="457200"/>
          </a:xfrm>
          <a:prstGeom prst="rect">
            <a:avLst/>
          </a:prstGeom>
          <a:noFill/>
        </p:spPr>
        <p:txBody>
          <a:bodyPr wrap="square" anchor="t" lIns="0" rIns="0" tIns="0" bIns="0">
            <a:spAutoFit/>
          </a:bodyPr>
          <a:lstStyle/>
          <a:p>
            <a:pPr algn="l">
              <a:lnSpc>
                <a:spcPct val="106000"/>
              </a:lnSpc>
            </a:pPr>
            <a:r>
              <a:rPr sz="2200" b="1">
                <a:solidFill>
                  <a:srgbClr val="D98324"/>
                </a:solidFill>
                <a:latin typeface="Georgia"/>
              </a:rPr>
              <a:t>Path-safe</a:t>
            </a:r>
          </a:p>
        </p:txBody>
      </p:sp>
      <p:sp>
        <p:nvSpPr>
          <p:cNvPr id="32" name="TextBox 31"/>
          <p:cNvSpPr txBox="1"/>
          <p:nvPr/>
        </p:nvSpPr>
        <p:spPr>
          <a:xfrm>
            <a:off x="4690872" y="4590288"/>
            <a:ext cx="3017520" cy="274320"/>
          </a:xfrm>
          <a:prstGeom prst="rect">
            <a:avLst/>
          </a:prstGeom>
          <a:noFill/>
        </p:spPr>
        <p:txBody>
          <a:bodyPr wrap="square" anchor="t" lIns="0" rIns="0" tIns="0" bIns="0">
            <a:spAutoFit/>
          </a:bodyPr>
          <a:lstStyle/>
          <a:p>
            <a:pPr algn="l">
              <a:lnSpc>
                <a:spcPct val="106000"/>
              </a:lnSpc>
            </a:pPr>
            <a:r>
              <a:rPr sz="1000" b="1">
                <a:solidFill>
                  <a:srgbClr val="7E9486"/>
                </a:solidFill>
                <a:latin typeface="Calibri"/>
              </a:rPr>
              <a:t>MEDIA UPLOADS</a:t>
            </a:r>
          </a:p>
        </p:txBody>
      </p:sp>
      <p:sp>
        <p:nvSpPr>
          <p:cNvPr id="33" name="TextBox 32"/>
          <p:cNvSpPr txBox="1"/>
          <p:nvPr/>
        </p:nvSpPr>
        <p:spPr>
          <a:xfrm>
            <a:off x="4690872" y="4937760"/>
            <a:ext cx="3017520" cy="822960"/>
          </a:xfrm>
          <a:prstGeom prst="rect">
            <a:avLst/>
          </a:prstGeom>
          <a:noFill/>
        </p:spPr>
        <p:txBody>
          <a:bodyPr wrap="square" anchor="t" lIns="0" rIns="0" tIns="0" bIns="0">
            <a:spAutoFit/>
          </a:bodyPr>
          <a:lstStyle/>
          <a:p>
            <a:pPr algn="l">
              <a:lnSpc>
                <a:spcPct val="120000"/>
              </a:lnSpc>
            </a:pPr>
            <a:r>
              <a:rPr sz="1150" b="0">
                <a:solidFill>
                  <a:srgbClr val="3A5143"/>
                </a:solidFill>
                <a:latin typeface="Calibri"/>
              </a:rPr>
              <a:t>Content-addressed storage with safe_join, specifically to block path traversal attacks.</a:t>
            </a:r>
          </a:p>
        </p:txBody>
      </p:sp>
      <p:sp>
        <p:nvSpPr>
          <p:cNvPr id="34" name="Rounded Rectangle 33"/>
          <p:cNvSpPr/>
          <p:nvPr/>
        </p:nvSpPr>
        <p:spPr>
          <a:xfrm>
            <a:off x="8211312" y="3877056"/>
            <a:ext cx="3529584" cy="1993392"/>
          </a:xfrm>
          <a:prstGeom prst="roundRect">
            <a:avLst>
              <a:gd name="adj" fmla="val 7000"/>
            </a:avLst>
          </a:prstGeom>
          <a:solidFill>
            <a:srgbClr val="FFFFFF"/>
          </a:solidFill>
          <a:ln w="12700">
            <a:solidFill>
              <a:srgbClr val="DDE7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11312" y="3877056"/>
            <a:ext cx="3529584" cy="45720"/>
          </a:xfrm>
          <a:prstGeom prst="rect">
            <a:avLst/>
          </a:prstGeom>
          <a:solidFill>
            <a:srgbClr val="7E94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67344" y="4114800"/>
            <a:ext cx="3017520" cy="457200"/>
          </a:xfrm>
          <a:prstGeom prst="rect">
            <a:avLst/>
          </a:prstGeom>
          <a:noFill/>
        </p:spPr>
        <p:txBody>
          <a:bodyPr wrap="square" anchor="t" lIns="0" rIns="0" tIns="0" bIns="0">
            <a:spAutoFit/>
          </a:bodyPr>
          <a:lstStyle/>
          <a:p>
            <a:pPr algn="l">
              <a:lnSpc>
                <a:spcPct val="106000"/>
              </a:lnSpc>
            </a:pPr>
            <a:r>
              <a:rPr sz="2200" b="1">
                <a:solidFill>
                  <a:srgbClr val="7E9486"/>
                </a:solidFill>
                <a:latin typeface="Georgia"/>
              </a:rPr>
              <a:t>Versioned</a:t>
            </a:r>
          </a:p>
        </p:txBody>
      </p:sp>
      <p:sp>
        <p:nvSpPr>
          <p:cNvPr id="37" name="TextBox 36"/>
          <p:cNvSpPr txBox="1"/>
          <p:nvPr/>
        </p:nvSpPr>
        <p:spPr>
          <a:xfrm>
            <a:off x="8467344" y="4590288"/>
            <a:ext cx="3017520" cy="274320"/>
          </a:xfrm>
          <a:prstGeom prst="rect">
            <a:avLst/>
          </a:prstGeom>
          <a:noFill/>
        </p:spPr>
        <p:txBody>
          <a:bodyPr wrap="square" anchor="t" lIns="0" rIns="0" tIns="0" bIns="0">
            <a:spAutoFit/>
          </a:bodyPr>
          <a:lstStyle/>
          <a:p>
            <a:pPr algn="l">
              <a:lnSpc>
                <a:spcPct val="106000"/>
              </a:lnSpc>
            </a:pPr>
            <a:r>
              <a:rPr sz="1000" b="1">
                <a:solidFill>
                  <a:srgbClr val="7E9486"/>
                </a:solidFill>
                <a:latin typeface="Calibri"/>
              </a:rPr>
              <a:t>STATIC ASSETS</a:t>
            </a:r>
          </a:p>
        </p:txBody>
      </p:sp>
      <p:sp>
        <p:nvSpPr>
          <p:cNvPr id="38" name="TextBox 37"/>
          <p:cNvSpPr txBox="1"/>
          <p:nvPr/>
        </p:nvSpPr>
        <p:spPr>
          <a:xfrm>
            <a:off x="8467344" y="4937760"/>
            <a:ext cx="3017520" cy="822960"/>
          </a:xfrm>
          <a:prstGeom prst="rect">
            <a:avLst/>
          </a:prstGeom>
          <a:noFill/>
        </p:spPr>
        <p:txBody>
          <a:bodyPr wrap="square" anchor="t" lIns="0" rIns="0" tIns="0" bIns="0">
            <a:spAutoFit/>
          </a:bodyPr>
          <a:lstStyle/>
          <a:p>
            <a:pPr algn="l">
              <a:lnSpc>
                <a:spcPct val="120000"/>
              </a:lnSpc>
            </a:pPr>
            <a:r>
              <a:rPr sz="1150" b="0">
                <a:solidFill>
                  <a:srgbClr val="3A5143"/>
                </a:solidFill>
                <a:latin typeface="Calibri"/>
              </a:rPr>
              <a:t>Admin assets carry a cache-busting query so a CDN can never serve a stale stylesheet.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6766560"/>
          </a:xfrm>
          <a:prstGeom prst="rect">
            <a:avLst/>
          </a:prstGeom>
          <a:solidFill>
            <a:srgbClr val="0D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8368"/>
            <a:ext cx="7315200" cy="274320"/>
          </a:xfrm>
          <a:prstGeom prst="rect">
            <a:avLst/>
          </a:prstGeom>
          <a:noFill/>
        </p:spPr>
        <p:txBody>
          <a:bodyPr wrap="square" anchor="t" lIns="0" rIns="0" tIns="0" bIns="0">
            <a:spAutoFit/>
          </a:bodyPr>
          <a:lstStyle/>
          <a:p>
            <a:pPr algn="l">
              <a:lnSpc>
                <a:spcPct val="106000"/>
              </a:lnSpc>
            </a:pPr>
            <a:r>
              <a:rPr sz="1200" b="1">
                <a:solidFill>
                  <a:srgbClr val="57B873"/>
                </a:solidFill>
                <a:latin typeface="Calibri"/>
              </a:rPr>
              <a:t>NEXT STEPS</a:t>
            </a:r>
          </a:p>
        </p:txBody>
      </p:sp>
      <p:sp>
        <p:nvSpPr>
          <p:cNvPr id="6" name="TextBox 5"/>
          <p:cNvSpPr txBox="1"/>
          <p:nvPr/>
        </p:nvSpPr>
        <p:spPr>
          <a:xfrm>
            <a:off x="804672" y="969264"/>
            <a:ext cx="8686800" cy="731520"/>
          </a:xfrm>
          <a:prstGeom prst="rect">
            <a:avLst/>
          </a:prstGeom>
          <a:noFill/>
        </p:spPr>
        <p:txBody>
          <a:bodyPr wrap="square" anchor="t" lIns="0" rIns="0" tIns="0" bIns="0">
            <a:spAutoFit/>
          </a:bodyPr>
          <a:lstStyle/>
          <a:p>
            <a:pPr algn="l">
              <a:lnSpc>
                <a:spcPct val="106000"/>
              </a:lnSpc>
            </a:pPr>
            <a:r>
              <a:rPr sz="3400" b="1">
                <a:solidFill>
                  <a:srgbClr val="FFFFFF"/>
                </a:solidFill>
                <a:latin typeface="Georgia"/>
              </a:rPr>
              <a:t>Where we go from here</a:t>
            </a:r>
          </a:p>
        </p:txBody>
      </p:sp>
      <p:sp>
        <p:nvSpPr>
          <p:cNvPr id="7" name="Rectangle 6"/>
          <p:cNvSpPr/>
          <p:nvPr/>
        </p:nvSpPr>
        <p:spPr>
          <a:xfrm>
            <a:off x="822960" y="1773936"/>
            <a:ext cx="1645920" cy="45720"/>
          </a:xfrm>
          <a:prstGeom prst="rect">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139696"/>
            <a:ext cx="5212080" cy="1133856"/>
          </a:xfrm>
          <a:prstGeom prst="roundRect">
            <a:avLst>
              <a:gd name="adj" fmla="val 10000"/>
            </a:avLst>
          </a:prstGeom>
          <a:solidFill>
            <a:srgbClr val="114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78992" y="2414015"/>
            <a:ext cx="128016" cy="128016"/>
          </a:xfrm>
          <a:prstGeom prst="roundRect">
            <a:avLst>
              <a:gd name="adj" fmla="val 50000"/>
            </a:avLst>
          </a:prstGeom>
          <a:solidFill>
            <a:srgbClr val="57B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322576"/>
            <a:ext cx="4480560" cy="320040"/>
          </a:xfrm>
          <a:prstGeom prst="rect">
            <a:avLst/>
          </a:prstGeom>
          <a:noFill/>
        </p:spPr>
        <p:txBody>
          <a:bodyPr wrap="square" anchor="t" lIns="0" rIns="0" tIns="0" bIns="0">
            <a:spAutoFit/>
          </a:bodyPr>
          <a:lstStyle/>
          <a:p>
            <a:pPr algn="l">
              <a:lnSpc>
                <a:spcPct val="106000"/>
              </a:lnSpc>
            </a:pPr>
            <a:r>
              <a:rPr sz="1500" b="1">
                <a:solidFill>
                  <a:srgbClr val="FFFFFF"/>
                </a:solidFill>
                <a:latin typeface="Georgia"/>
              </a:rPr>
              <a:t>Retrain on field photos</a:t>
            </a:r>
          </a:p>
        </p:txBody>
      </p:sp>
      <p:sp>
        <p:nvSpPr>
          <p:cNvPr id="11" name="TextBox 10"/>
          <p:cNvSpPr txBox="1"/>
          <p:nvPr/>
        </p:nvSpPr>
        <p:spPr>
          <a:xfrm>
            <a:off x="1371600" y="2670048"/>
            <a:ext cx="4480560" cy="548640"/>
          </a:xfrm>
          <a:prstGeom prst="rect">
            <a:avLst/>
          </a:prstGeom>
          <a:noFill/>
        </p:spPr>
        <p:txBody>
          <a:bodyPr wrap="square" anchor="t" lIns="0" rIns="0" tIns="0" bIns="0">
            <a:spAutoFit/>
          </a:bodyPr>
          <a:lstStyle/>
          <a:p>
            <a:pPr algn="l">
              <a:lnSpc>
                <a:spcPct val="118000"/>
              </a:lnSpc>
            </a:pPr>
            <a:r>
              <a:rPr sz="1150" b="0">
                <a:solidFill>
                  <a:srgbClr val="B9D9C4"/>
                </a:solidFill>
                <a:latin typeface="Calibri"/>
              </a:rPr>
              <a:t>Replace lab-style images with real field photographs, especially Early Blight, to close the domain gap.</a:t>
            </a:r>
          </a:p>
        </p:txBody>
      </p:sp>
      <p:sp>
        <p:nvSpPr>
          <p:cNvPr id="12" name="Rounded Rectangle 11"/>
          <p:cNvSpPr/>
          <p:nvPr/>
        </p:nvSpPr>
        <p:spPr>
          <a:xfrm>
            <a:off x="6309360" y="2139696"/>
            <a:ext cx="5212080" cy="1133856"/>
          </a:xfrm>
          <a:prstGeom prst="roundRect">
            <a:avLst>
              <a:gd name="adj" fmla="val 10000"/>
            </a:avLst>
          </a:prstGeom>
          <a:solidFill>
            <a:srgbClr val="114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65392" y="2414015"/>
            <a:ext cx="128016" cy="128016"/>
          </a:xfrm>
          <a:prstGeom prst="roundRect">
            <a:avLst>
              <a:gd name="adj" fmla="val 50000"/>
            </a:avLst>
          </a:prstGeom>
          <a:solidFill>
            <a:srgbClr val="57B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2322576"/>
            <a:ext cx="4480560" cy="320040"/>
          </a:xfrm>
          <a:prstGeom prst="rect">
            <a:avLst/>
          </a:prstGeom>
          <a:noFill/>
        </p:spPr>
        <p:txBody>
          <a:bodyPr wrap="square" anchor="t" lIns="0" rIns="0" tIns="0" bIns="0">
            <a:spAutoFit/>
          </a:bodyPr>
          <a:lstStyle/>
          <a:p>
            <a:pPr algn="l">
              <a:lnSpc>
                <a:spcPct val="106000"/>
              </a:lnSpc>
            </a:pPr>
            <a:r>
              <a:rPr sz="1500" b="1">
                <a:solidFill>
                  <a:srgbClr val="FFFFFF"/>
                </a:solidFill>
                <a:latin typeface="Georgia"/>
              </a:rPr>
              <a:t>Switch the default model</a:t>
            </a:r>
          </a:p>
        </p:txBody>
      </p:sp>
      <p:sp>
        <p:nvSpPr>
          <p:cNvPr id="15" name="TextBox 14"/>
          <p:cNvSpPr txBox="1"/>
          <p:nvPr/>
        </p:nvSpPr>
        <p:spPr>
          <a:xfrm>
            <a:off x="6858000" y="2670048"/>
            <a:ext cx="4480560" cy="548640"/>
          </a:xfrm>
          <a:prstGeom prst="rect">
            <a:avLst/>
          </a:prstGeom>
          <a:noFill/>
        </p:spPr>
        <p:txBody>
          <a:bodyPr wrap="square" anchor="t" lIns="0" rIns="0" tIns="0" bIns="0">
            <a:spAutoFit/>
          </a:bodyPr>
          <a:lstStyle/>
          <a:p>
            <a:pPr algn="l">
              <a:lnSpc>
                <a:spcPct val="118000"/>
              </a:lnSpc>
            </a:pPr>
            <a:r>
              <a:rPr sz="1150" b="0">
                <a:solidFill>
                  <a:srgbClr val="B9D9C4"/>
                </a:solidFill>
                <a:latin typeface="Calibri"/>
              </a:rPr>
              <a:t>EfficientNet-B0 beat the ensemble on the harder test — make it the default and re-measure.</a:t>
            </a:r>
          </a:p>
        </p:txBody>
      </p:sp>
      <p:sp>
        <p:nvSpPr>
          <p:cNvPr id="16" name="Rounded Rectangle 15"/>
          <p:cNvSpPr/>
          <p:nvPr/>
        </p:nvSpPr>
        <p:spPr>
          <a:xfrm>
            <a:off x="822960" y="3438144"/>
            <a:ext cx="5212080" cy="1133856"/>
          </a:xfrm>
          <a:prstGeom prst="roundRect">
            <a:avLst>
              <a:gd name="adj" fmla="val 10000"/>
            </a:avLst>
          </a:prstGeom>
          <a:solidFill>
            <a:srgbClr val="114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78992" y="3712463"/>
            <a:ext cx="128016" cy="128016"/>
          </a:xfrm>
          <a:prstGeom prst="roundRect">
            <a:avLst>
              <a:gd name="adj" fmla="val 50000"/>
            </a:avLst>
          </a:prstGeom>
          <a:solidFill>
            <a:srgbClr val="57B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3621024"/>
            <a:ext cx="4480560" cy="320040"/>
          </a:xfrm>
          <a:prstGeom prst="rect">
            <a:avLst/>
          </a:prstGeom>
          <a:noFill/>
        </p:spPr>
        <p:txBody>
          <a:bodyPr wrap="square" anchor="t" lIns="0" rIns="0" tIns="0" bIns="0">
            <a:spAutoFit/>
          </a:bodyPr>
          <a:lstStyle/>
          <a:p>
            <a:pPr algn="l">
              <a:lnSpc>
                <a:spcPct val="106000"/>
              </a:lnSpc>
            </a:pPr>
            <a:r>
              <a:rPr sz="1500" b="1">
                <a:solidFill>
                  <a:srgbClr val="FFFFFF"/>
                </a:solidFill>
                <a:latin typeface="Georgia"/>
              </a:rPr>
              <a:t>Tighten the rejection layer</a:t>
            </a:r>
          </a:p>
        </p:txBody>
      </p:sp>
      <p:sp>
        <p:nvSpPr>
          <p:cNvPr id="19" name="TextBox 18"/>
          <p:cNvSpPr txBox="1"/>
          <p:nvPr/>
        </p:nvSpPr>
        <p:spPr>
          <a:xfrm>
            <a:off x="1371600" y="3968496"/>
            <a:ext cx="4480560" cy="548640"/>
          </a:xfrm>
          <a:prstGeom prst="rect">
            <a:avLst/>
          </a:prstGeom>
          <a:noFill/>
        </p:spPr>
        <p:txBody>
          <a:bodyPr wrap="square" anchor="t" lIns="0" rIns="0" tIns="0" bIns="0">
            <a:spAutoFit/>
          </a:bodyPr>
          <a:lstStyle/>
          <a:p>
            <a:pPr algn="l">
              <a:lnSpc>
                <a:spcPct val="118000"/>
              </a:lnSpc>
            </a:pPr>
            <a:r>
              <a:rPr sz="1150" b="0">
                <a:solidFill>
                  <a:srgbClr val="B9D9C4"/>
                </a:solidFill>
                <a:latin typeface="Calibri"/>
              </a:rPr>
              <a:t>The open-set leak of 52.9 percent must fall. We will calibrate the gates and add hard negatives.</a:t>
            </a:r>
          </a:p>
        </p:txBody>
      </p:sp>
      <p:sp>
        <p:nvSpPr>
          <p:cNvPr id="20" name="Rounded Rectangle 19"/>
          <p:cNvSpPr/>
          <p:nvPr/>
        </p:nvSpPr>
        <p:spPr>
          <a:xfrm>
            <a:off x="6309360" y="3438144"/>
            <a:ext cx="5212080" cy="1133856"/>
          </a:xfrm>
          <a:prstGeom prst="roundRect">
            <a:avLst>
              <a:gd name="adj" fmla="val 10000"/>
            </a:avLst>
          </a:prstGeom>
          <a:solidFill>
            <a:srgbClr val="114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65392" y="3712463"/>
            <a:ext cx="128016" cy="128016"/>
          </a:xfrm>
          <a:prstGeom prst="roundRect">
            <a:avLst>
              <a:gd name="adj" fmla="val 50000"/>
            </a:avLst>
          </a:prstGeom>
          <a:solidFill>
            <a:srgbClr val="57B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3621024"/>
            <a:ext cx="4480560" cy="320040"/>
          </a:xfrm>
          <a:prstGeom prst="rect">
            <a:avLst/>
          </a:prstGeom>
          <a:noFill/>
        </p:spPr>
        <p:txBody>
          <a:bodyPr wrap="square" anchor="t" lIns="0" rIns="0" tIns="0" bIns="0">
            <a:spAutoFit/>
          </a:bodyPr>
          <a:lstStyle/>
          <a:p>
            <a:pPr algn="l">
              <a:lnSpc>
                <a:spcPct val="106000"/>
              </a:lnSpc>
            </a:pPr>
            <a:r>
              <a:rPr sz="1500" b="1">
                <a:solidFill>
                  <a:srgbClr val="FFFFFF"/>
                </a:solidFill>
                <a:latin typeface="Georgia"/>
              </a:rPr>
              <a:t>On-device inference</a:t>
            </a:r>
          </a:p>
        </p:txBody>
      </p:sp>
      <p:sp>
        <p:nvSpPr>
          <p:cNvPr id="23" name="TextBox 22"/>
          <p:cNvSpPr txBox="1"/>
          <p:nvPr/>
        </p:nvSpPr>
        <p:spPr>
          <a:xfrm>
            <a:off x="6858000" y="3968496"/>
            <a:ext cx="4480560" cy="548640"/>
          </a:xfrm>
          <a:prstGeom prst="rect">
            <a:avLst/>
          </a:prstGeom>
          <a:noFill/>
        </p:spPr>
        <p:txBody>
          <a:bodyPr wrap="square" anchor="t" lIns="0" rIns="0" tIns="0" bIns="0">
            <a:spAutoFit/>
          </a:bodyPr>
          <a:lstStyle/>
          <a:p>
            <a:pPr algn="l">
              <a:lnSpc>
                <a:spcPct val="118000"/>
              </a:lnSpc>
            </a:pPr>
            <a:r>
              <a:rPr sz="1150" b="0">
                <a:solidFill>
                  <a:srgbClr val="B9D9C4"/>
                </a:solidFill>
                <a:latin typeface="Calibri"/>
              </a:rPr>
              <a:t>Run the model on the phone so a farmer with no network can still get a diagnosis.</a:t>
            </a:r>
          </a:p>
        </p:txBody>
      </p:sp>
      <p:sp>
        <p:nvSpPr>
          <p:cNvPr id="24" name="Rounded Rectangle 23"/>
          <p:cNvSpPr/>
          <p:nvPr/>
        </p:nvSpPr>
        <p:spPr>
          <a:xfrm>
            <a:off x="822960" y="4901184"/>
            <a:ext cx="10515600" cy="1371600"/>
          </a:xfrm>
          <a:prstGeom prst="roundRect">
            <a:avLst>
              <a:gd name="adj" fmla="val 10000"/>
            </a:avLst>
          </a:prstGeom>
          <a:solidFill>
            <a:srgbClr val="082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5120640"/>
            <a:ext cx="6949440" cy="457200"/>
          </a:xfrm>
          <a:prstGeom prst="rect">
            <a:avLst/>
          </a:prstGeom>
          <a:noFill/>
        </p:spPr>
        <p:txBody>
          <a:bodyPr wrap="square" anchor="t" lIns="0" rIns="0" tIns="0" bIns="0">
            <a:spAutoFit/>
          </a:bodyPr>
          <a:lstStyle/>
          <a:p>
            <a:pPr algn="l">
              <a:lnSpc>
                <a:spcPct val="106000"/>
              </a:lnSpc>
            </a:pPr>
            <a:r>
              <a:rPr sz="3000" b="1">
                <a:solidFill>
                  <a:srgbClr val="FFFFFF"/>
                </a:solidFill>
                <a:latin typeface="Georgia"/>
              </a:rPr>
              <a:t>Thank you.</a:t>
            </a:r>
          </a:p>
        </p:txBody>
      </p:sp>
      <p:sp>
        <p:nvSpPr>
          <p:cNvPr id="26" name="TextBox 25"/>
          <p:cNvSpPr txBox="1"/>
          <p:nvPr/>
        </p:nvSpPr>
        <p:spPr>
          <a:xfrm>
            <a:off x="1188720" y="5614416"/>
            <a:ext cx="6949440" cy="502920"/>
          </a:xfrm>
          <a:prstGeom prst="rect">
            <a:avLst/>
          </a:prstGeom>
          <a:noFill/>
        </p:spPr>
        <p:txBody>
          <a:bodyPr wrap="square" anchor="t" lIns="0" rIns="0" tIns="0" bIns="0">
            <a:spAutoFit/>
          </a:bodyPr>
          <a:lstStyle/>
          <a:p>
            <a:pPr algn="l">
              <a:lnSpc>
                <a:spcPct val="106000"/>
              </a:lnSpc>
            </a:pPr>
            <a:r>
              <a:rPr sz="1350" b="0">
                <a:solidFill>
                  <a:srgbClr val="B9D9C4"/>
                </a:solidFill>
                <a:latin typeface="Calibri"/>
              </a:rPr>
              <a:t>Questions are welcome — we would rather defend a weakness than hide it.</a:t>
            </a:r>
          </a:p>
        </p:txBody>
      </p:sp>
      <p:pic>
        <p:nvPicPr>
          <p:cNvPr id="27" name="Picture 26" descr="gu_logo_plate.png"/>
          <p:cNvPicPr>
            <a:picLocks noChangeAspect="1"/>
          </p:cNvPicPr>
          <p:nvPr/>
        </p:nvPicPr>
        <p:blipFill>
          <a:blip r:embed="rId2"/>
          <a:stretch>
            <a:fillRect/>
          </a:stretch>
        </p:blipFill>
        <p:spPr>
          <a:xfrm>
            <a:off x="8595360" y="5230368"/>
            <a:ext cx="1554480" cy="459813"/>
          </a:xfrm>
          <a:prstGeom prst="rect">
            <a:avLst/>
          </a:prstGeom>
        </p:spPr>
      </p:pic>
      <p:pic>
        <p:nvPicPr>
          <p:cNvPr id="28" name="Picture 27" descr="potatodoc_logo_plate.png"/>
          <p:cNvPicPr>
            <a:picLocks noChangeAspect="1"/>
          </p:cNvPicPr>
          <p:nvPr/>
        </p:nvPicPr>
        <p:blipFill>
          <a:blip r:embed="rId3"/>
          <a:stretch>
            <a:fillRect/>
          </a:stretch>
        </p:blipFill>
        <p:spPr>
          <a:xfrm>
            <a:off x="10378440" y="5175504"/>
            <a:ext cx="960120" cy="9601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